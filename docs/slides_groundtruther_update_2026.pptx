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103120"/>
            <a:ext cx="10332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1A5276"/>
                </a:solidFill>
              </a:rPr>
              <a:t>GroundTruther</a:t>
            </a:r>
          </a:p>
          <a:p>
            <a:pPr algn="ctr">
              <a:spcBef>
                <a:spcPts val="800"/>
              </a:spcBef>
            </a:pPr>
            <a:r>
              <a:rPr sz="2400" b="1" i="0">
                <a:solidFill>
                  <a:srgbClr val="0E6E6E"/>
                </a:solidFill>
              </a:rPr>
              <a:t>From plugin to measurement instrument</a:t>
            </a:r>
          </a:p>
          <a:p>
            <a:pPr algn="ctr"/>
            <a:r>
              <a:rPr sz="1500" b="0" i="0">
                <a:solidFill>
                  <a:srgbClr val="5B6B76"/>
                </a:solidFill>
              </a:rPr>
              <a:t>A QGIS plugin for seafloor characterization — multibeam acoustics, seafloor</a:t>
            </a:r>
          </a:p>
          <a:p>
            <a:pPr algn="ctr"/>
            <a:r>
              <a:rPr sz="1500" b="0" i="0">
                <a:solidFill>
                  <a:srgbClr val="5B6B76"/>
                </a:solidFill>
              </a:rPr>
              <a:t>imagery, survey video and now stereo geometry, together on one map.</a:t>
            </a:r>
          </a:p>
          <a:p>
            <a:pPr algn="ctr"/>
            <a:r>
              <a:rPr sz="1500" b="0" i="0">
                <a:solidFill>
                  <a:srgbClr val="5B6B76"/>
                </a:solidFill>
              </a:rPr>
              <a:t/>
            </a:r>
          </a:p>
          <a:p>
            <a:pPr algn="ctr"/>
            <a:r>
              <a:rPr sz="1500" b="0" i="0">
                <a:solidFill>
                  <a:srgbClr val="5B6B76"/>
                </a:solidFill>
              </a:rPr>
              <a:t>Development update · September 2026 · v0.4 · QGIS 4 / Qt 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A5276"/>
                </a:solidFill>
              </a:rPr>
              <a:t>Recap — what it 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463040"/>
            <a:ext cx="58521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4303D"/>
                </a:solidFill>
              </a:rPr>
              <a:t>•  Runs inside QGIS as a dock-based toolset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4303D"/>
                </a:solidFill>
              </a:rPr>
              <a:t>•  Joins four data worlds on one map:</a:t>
            </a:r>
          </a:p>
          <a:p>
            <a:pPr algn="l" lvl="1">
              <a:spcAft>
                <a:spcPts val="600"/>
              </a:spcAft>
            </a:pPr>
            <a:r>
              <a:rPr sz="1300" b="0" i="0">
                <a:solidFill>
                  <a:srgbClr val="5B6B76"/>
                </a:solidFill>
              </a:rPr>
              <a:t>–  MBES bathymetry + backscatter (ARA)</a:t>
            </a:r>
          </a:p>
          <a:p>
            <a:pPr algn="l" lvl="1">
              <a:spcAft>
                <a:spcPts val="600"/>
              </a:spcAft>
            </a:pPr>
            <a:r>
              <a:rPr sz="1300" b="0" i="0">
                <a:solidFill>
                  <a:srgbClr val="5B6B76"/>
                </a:solidFill>
              </a:rPr>
              <a:t>–  Seafloor imagery (HabCam-style stereo stills)</a:t>
            </a:r>
          </a:p>
          <a:p>
            <a:pPr algn="l" lvl="1">
              <a:spcAft>
                <a:spcPts val="600"/>
              </a:spcAft>
            </a:pPr>
            <a:r>
              <a:rPr sz="1300" b="0" i="0">
                <a:solidFill>
                  <a:srgbClr val="5B6B76"/>
                </a:solidFill>
              </a:rPr>
              <a:t>–  Survey video with per-frame GPS</a:t>
            </a:r>
          </a:p>
          <a:p>
            <a:pPr algn="l" lvl="1">
              <a:spcAft>
                <a:spcPts val="600"/>
              </a:spcAft>
            </a:pPr>
            <a:r>
              <a:rPr sz="1300" b="0" i="0">
                <a:solidFill>
                  <a:srgbClr val="5B6B76"/>
                </a:solidFill>
              </a:rPr>
              <a:t>–  Stereo geometry — micro-DEMs, roughness, mosaics (new)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4303D"/>
                </a:solidFill>
              </a:rPr>
              <a:t>•  Ground-truth annotation → statistics → KMZ / HTML reports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4303D"/>
                </a:solidFill>
              </a:rPr>
              <a:t>•  Heavy work stays server-side: GRASS backend + a GPU stereo service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0" y="1554480"/>
            <a:ext cx="5120640" cy="4572000"/>
          </a:xfrm>
          <a:prstGeom prst="roundRect">
            <a:avLst/>
          </a:prstGeom>
          <a:solidFill>
            <a:srgbClr val="EAF2F8"/>
          </a:solidFill>
          <a:ln w="22225">
            <a:solidFill>
              <a:srgbClr val="2E86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 i="0">
                <a:solidFill>
                  <a:srgbClr val="1A5276"/>
                </a:solidFill>
              </a:rPr>
              <a:t>🖼  Screenshot</a:t>
            </a:r>
          </a:p>
          <a:p>
            <a:pPr algn="ctr"/>
            <a:r>
              <a:rPr sz="1100" b="0" i="0">
                <a:solidFill>
                  <a:srgbClr val="1A5276"/>
                </a:solidFill>
              </a:rPr>
              <a:t>GroundTruther docked in QGIS (overview)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A5276"/>
                </a:solidFill>
              </a:rPr>
              <a:t>Where it stands today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371600"/>
          <a:ext cx="1088136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3560"/>
                <a:gridCol w="9067800"/>
              </a:tblGrid>
              <a:tr h="256032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</a:rPr>
                        <a:t>when</a:t>
                      </a:r>
                    </a:p>
                  </a:txBody>
                  <a:tcPr marL="54864" marR="54864" marT="18288" marB="18288" anchor="ctr">
                    <a:solidFill>
                      <a:srgbClr val="1A527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</a:rPr>
                        <a:t>what landed</a:t>
                      </a:r>
                    </a:p>
                  </a:txBody>
                  <a:tcPr marL="54864" marR="54864" marT="18288" marB="18288" anchor="ctr">
                    <a:solidFill>
                      <a:srgbClr val="1A5276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4303D"/>
                          </a:solidFill>
                        </a:rPr>
                        <a:t>Apr 2026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4303D"/>
                          </a:solidFill>
                        </a:rPr>
                        <a:t>Port to QGIS 4 / Qt 6, Python 3.14, dock UI, video player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4303D"/>
                          </a:solidFill>
                        </a:rPr>
                        <a:t>Jun 2026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4303D"/>
                          </a:solidFill>
                        </a:rPr>
                        <a:t>FastGIS authenticated GRASS API · session persistence · stereo roughness, micro-DEM 3-D and georeferenced mosaics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4303D"/>
                          </a:solidFill>
                        </a:rPr>
                        <a:t>Sep 2026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4303D"/>
                          </a:solidFill>
                        </a:rPr>
                        <a:t>Config hardening · full docs site · the 180° georeference fix · the photogrammetric seabed ribbon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4303D"/>
                          </a:solidFill>
                        </a:rPr>
                        <a:t>in parallel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4303D"/>
                          </a:solidFill>
                        </a:rPr>
                        <a:t>HRS1508 — a frozen-manifest analysis asking whether stereo roughness actually adds to acoustics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40080" y="2852928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E6E6E"/>
                </a:solidFill>
              </a:rPr>
              <a:t>Act I — the engineering that made the tool trustworthy · Act II — the new optical-geometry tools · Act III — the first science they made possible.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194560"/>
            <a:ext cx="103327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0" b="1" i="0">
                <a:solidFill>
                  <a:srgbClr val="1A5276"/>
                </a:solidFill>
              </a:rPr>
              <a:t>Act I</a:t>
            </a:r>
          </a:p>
          <a:p>
            <a:pPr algn="ctr">
              <a:spcBef>
                <a:spcPts val="800"/>
              </a:spcBef>
            </a:pPr>
            <a:r>
              <a:rPr sz="2600" b="1" i="0">
                <a:solidFill>
                  <a:srgbClr val="0E6E6E"/>
                </a:solidFill>
              </a:rPr>
              <a:t>The platform</a:t>
            </a:r>
          </a:p>
          <a:p>
            <a:pPr algn="ctr"/>
            <a:r>
              <a:rPr sz="1400" b="0" i="0">
                <a:solidFill>
                  <a:srgbClr val="5B6B76"/>
                </a:solidFill>
              </a:rPr>
              <a:t>QGIS 4 / Qt 6 · docks &amp; sessions · configuration · internals ·</a:t>
            </a:r>
          </a:p>
          <a:p>
            <a:pPr algn="ctr"/>
            <a:r>
              <a:rPr sz="1400" b="0" i="0">
                <a:solidFill>
                  <a:srgbClr val="5B6B76"/>
                </a:solidFill>
              </a:rPr>
              <a:t>FastGIS · query builder · video · reports · docs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A5276"/>
                </a:solidFill>
              </a:rPr>
              <a:t>QGIS 4 / Qt 6 support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457200"/>
            <a:ext cx="1737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 i="0">
                <a:solidFill>
                  <a:srgbClr val="2E86C1"/>
                </a:solidFill>
              </a:rPr>
              <a:t>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63040"/>
            <a:ext cx="58521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4303D"/>
                </a:solidFill>
              </a:rPr>
              <a:t>•  Full port to QGIS 4.0+ / Qt 6 (system Python 3.14)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4303D"/>
                </a:solidFill>
              </a:rPr>
              <a:t>•  Qt 6 API rework: scoped enums, exec_ → exec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4303D"/>
                </a:solidFill>
              </a:rPr>
              <a:t>•  Fixed Qt 6 dock-walk crashes — register docks with the QGIS main window,</a:t>
            </a:r>
          </a:p>
          <a:p>
            <a:pPr algn="l" lvl="1">
              <a:spcAft>
                <a:spcPts val="600"/>
              </a:spcAft>
            </a:pPr>
            <a:r>
              <a:rPr sz="1300" b="0" i="0">
                <a:solidFill>
                  <a:srgbClr val="5B6B76"/>
                </a:solidFill>
              </a:rPr>
              <a:t>–  never with the plugin's inner QMainWindow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4303D"/>
                </a:solidFill>
              </a:rPr>
              <a:t>•  OpenGL 3-D viewer made Qt 6-safe (PyOpenGL context)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4303D"/>
                </a:solidFill>
              </a:rPr>
              <a:t>•  QWebEngineView → QTextBrowser (WebEngine absent from QGIS 4 OSGeo4W)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4303D"/>
                </a:solidFill>
              </a:rPr>
              <a:t>•  Wayland: launch QT_QPA_PLATFORM=xcb for floating docks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4303D"/>
                </a:solidFill>
              </a:rPr>
              <a:t>•  qgisMinimumVersion = 4.0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0" y="1554480"/>
            <a:ext cx="5120640" cy="4572000"/>
          </a:xfrm>
          <a:prstGeom prst="roundRect">
            <a:avLst/>
          </a:prstGeom>
          <a:solidFill>
            <a:srgbClr val="EAF2F8"/>
          </a:solidFill>
          <a:ln w="22225">
            <a:solidFill>
              <a:srgbClr val="2E86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 i="0">
                <a:solidFill>
                  <a:srgbClr val="1A5276"/>
                </a:solidFill>
              </a:rPr>
              <a:t>🖼  Screenshot</a:t>
            </a:r>
          </a:p>
          <a:p>
            <a:pPr algn="ctr"/>
            <a:r>
              <a:rPr sz="1100" b="0" i="0">
                <a:solidFill>
                  <a:srgbClr val="1A5276"/>
                </a:solidFill>
              </a:rPr>
              <a:t>plugin running in QGIS 4 (toolbar + docks)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A5276"/>
                </a:solidFill>
              </a:rPr>
              <a:t>Dock workspace &amp; session persistence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457200"/>
            <a:ext cx="1737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 i="0">
                <a:solidFill>
                  <a:srgbClr val="2E86C1"/>
                </a:solidFill>
              </a:rPr>
              <a:t>GUI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63040"/>
            <a:ext cx="58521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4303D"/>
                </a:solidFill>
              </a:rPr>
              <a:t>•  Each tool an independent dockable / floatable panel: image browser, video</a:t>
            </a:r>
          </a:p>
          <a:p>
            <a:pPr algn="l" lvl="1">
              <a:spcAft>
                <a:spcPts val="600"/>
              </a:spcAft>
            </a:pPr>
            <a:r>
              <a:rPr sz="1300" b="0" i="0">
                <a:solidFill>
                  <a:srgbClr val="5B6B76"/>
                </a:solidFill>
              </a:rPr>
              <a:t>–  player, query builder, report builder, GRASS tools, seafloor roughness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4303D"/>
                </a:solidFill>
              </a:rPr>
              <a:t>•  'Restore default layout' + reliable save/restore of docked layout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4303D"/>
                </a:solidFill>
              </a:rPr>
              <a:t>•  Session persistence: a groundtruther_project file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4303D"/>
                </a:solidFill>
              </a:rPr>
              <a:t>•  Restores image index, zoom, query selection, dock layout, map-sync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4303D"/>
                </a:solidFill>
              </a:rPr>
              <a:t>•  Written on QGIS project save · loaded at start → resume where you left off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0" y="1554480"/>
            <a:ext cx="5120640" cy="4572000"/>
          </a:xfrm>
          <a:prstGeom prst="roundRect">
            <a:avLst/>
          </a:prstGeom>
          <a:solidFill>
            <a:srgbClr val="EAF2F8"/>
          </a:solidFill>
          <a:ln w="22225">
            <a:solidFill>
              <a:srgbClr val="2E86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 i="0">
                <a:solidFill>
                  <a:srgbClr val="1A5276"/>
                </a:solidFill>
              </a:rPr>
              <a:t>🖼  Screenshot</a:t>
            </a:r>
          </a:p>
          <a:p>
            <a:pPr algn="ctr"/>
            <a:r>
              <a:rPr sz="1100" b="0" i="0">
                <a:solidFill>
                  <a:srgbClr val="1A5276"/>
                </a:solidFill>
              </a:rPr>
              <a:t>custom dock layout + Settings (session file field)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A5276"/>
                </a:solidFill>
              </a:rPr>
              <a:t>Configuration that degrades instead of failing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457200"/>
            <a:ext cx="1737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 i="0">
                <a:solidFill>
                  <a:srgbClr val="2E86C1"/>
                </a:solidFill>
              </a:rPr>
              <a:t>ROBUSTNESS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63040"/>
            <a:ext cx="58521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4303D"/>
                </a:solidFill>
              </a:rPr>
              <a:t>•  The old model was all-or-nothing: one stale path and the plugin would not start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4303D"/>
                </a:solidFill>
              </a:rPr>
              <a:t>•  27 keys, validated per key and severity-aware; pydantic v2 is the schema of record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4303D"/>
                </a:solidFill>
              </a:rPr>
              <a:t>•  Only the two image paths are errors — everything else is a warning when</a:t>
            </a:r>
          </a:p>
          <a:p>
            <a:pPr algn="l" lvl="1">
              <a:spcAft>
                <a:spcPts val="600"/>
              </a:spcAft>
            </a:pPr>
            <a:r>
              <a:rPr sz="1300" b="0" i="0">
                <a:solidFill>
                  <a:srgbClr val="5B6B76"/>
                </a:solidFill>
              </a:rPr>
              <a:t>–  set-but-invalid, and silent when unset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4303D"/>
                </a:solidFill>
              </a:rPr>
              <a:t>•  degrade() blanks only the failed keys → a bad value disables its own feature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4303D"/>
                </a:solidFill>
              </a:rPr>
              <a:t>•  Config values treated as untrusted throughout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4303D"/>
                </a:solidFill>
              </a:rPr>
              <a:t>•  Settings dialog covers every key and saves by merging into the file on disk</a:t>
            </a:r>
          </a:p>
          <a:p>
            <a:pPr algn="l" lvl="1">
              <a:spcAft>
                <a:spcPts val="600"/>
              </a:spcAft>
            </a:pPr>
            <a:r>
              <a:rPr sz="1300" b="0" i="0">
                <a:solidFill>
                  <a:srgbClr val="5B6B76"/>
                </a:solidFill>
              </a:rPr>
              <a:t>–  (the old fixed template silently deleted whole sections)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4303D"/>
                </a:solidFill>
              </a:rPr>
              <a:t>•  Cloud panels hide themselves when no service is configured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0" y="1554480"/>
            <a:ext cx="5120640" cy="4572000"/>
          </a:xfrm>
          <a:prstGeom prst="roundRect">
            <a:avLst/>
          </a:prstGeom>
          <a:solidFill>
            <a:srgbClr val="EAF2F8"/>
          </a:solidFill>
          <a:ln w="22225">
            <a:solidFill>
              <a:srgbClr val="2E86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 i="0">
                <a:solidFill>
                  <a:srgbClr val="1A5276"/>
                </a:solidFill>
              </a:rPr>
              <a:t>🖼  Screenshot</a:t>
            </a:r>
          </a:p>
          <a:p>
            <a:pPr algn="ctr"/>
            <a:r>
              <a:rPr sz="1100" b="0" i="0">
                <a:solidFill>
                  <a:srgbClr val="1A5276"/>
                </a:solidFill>
              </a:rPr>
              <a:t>Settings dialog + a validation report in the message log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A5276"/>
                </a:solidFill>
              </a:rPr>
              <a:t>Internals — modular, tested, documented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457200"/>
            <a:ext cx="1737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 i="0">
                <a:solidFill>
                  <a:srgbClr val="2E86C1"/>
                </a:solidFill>
              </a:rPr>
              <a:t>INTERNALS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4303D"/>
                </a:solidFill>
              </a:rPr>
              <a:t>•  Thin orchestrator + focused mixins — dockwidget ≈ 240 lines:</a:t>
            </a:r>
          </a:p>
          <a:p>
            <a:pPr algn="l" lvl="1">
              <a:spcAft>
                <a:spcPts val="600"/>
              </a:spcAft>
            </a:pPr>
            <a:r>
              <a:rPr sz="1500" b="0" i="0">
                <a:solidFill>
                  <a:srgbClr val="5B6B76"/>
                </a:solidFill>
              </a:rPr>
              <a:t>–  image browser · video browser · video annotation · GRASS · roughness ·</a:t>
            </a:r>
          </a:p>
          <a:p>
            <a:pPr algn="l" lvl="1">
              <a:spcAft>
                <a:spcPts val="600"/>
              </a:spcAft>
            </a:pPr>
            <a:r>
              <a:rPr sz="1500" b="0" i="0">
                <a:solidFill>
                  <a:srgbClr val="5B6B76"/>
                </a:solidFill>
              </a:rPr>
              <a:t>–  report · settings · layout · session</a:t>
            </a:r>
          </a:p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4303D"/>
                </a:solidFill>
              </a:rPr>
              <a:t>•  Stateless, testable core (gt/) — no Qt, unit-tested:</a:t>
            </a:r>
          </a:p>
          <a:p>
            <a:pPr algn="l" lvl="1">
              <a:spcAft>
                <a:spcPts val="600"/>
              </a:spcAft>
            </a:pPr>
            <a:r>
              <a:rPr sz="1500" b="0" i="0">
                <a:solidFill>
                  <a:srgbClr val="5B6B76"/>
                </a:solidFill>
              </a:rPr>
              <a:t>–  grass_api · image_manager · video_manager · task_runner · mbes_fields ·</a:t>
            </a:r>
          </a:p>
          <a:p>
            <a:pPr algn="l" lvl="1">
              <a:spcAft>
                <a:spcPts val="600"/>
              </a:spcAft>
            </a:pPr>
            <a:r>
              <a:rPr sz="1500" b="0" i="0">
                <a:solidFill>
                  <a:srgbClr val="5B6B76"/>
                </a:solidFill>
              </a:rPr>
              <a:t>–  session_state · roughness_client / _geo / _dem / _spectrum / _interpret · ribbon</a:t>
            </a:r>
          </a:p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4303D"/>
                </a:solidFill>
              </a:rPr>
              <a:t>•  415 tests collected (unit / GUI-offscreen / integration) — including tests that</a:t>
            </a:r>
          </a:p>
          <a:p>
            <a:pPr algn="l" lvl="1">
              <a:spcAft>
                <a:spcPts val="600"/>
              </a:spcAft>
            </a:pPr>
            <a:r>
              <a:rPr sz="1500" b="0" i="0">
                <a:solidFill>
                  <a:srgbClr val="5B6B76"/>
                </a:solidFill>
              </a:rPr>
              <a:t>–  guard the conventions: import hygiene, settings-docs drift, UI-built-once</a:t>
            </a:r>
          </a:p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4303D"/>
                </a:solidFill>
              </a:rPr>
              <a:t>•  Non-trivial work is planned first in PLANNING/, executed in a dedicated git</a:t>
            </a:r>
          </a:p>
          <a:p>
            <a:pPr algn="l" lvl="1">
              <a:spcAft>
                <a:spcPts val="600"/>
              </a:spcAft>
            </a:pPr>
            <a:r>
              <a:rPr sz="1500" b="0" i="0">
                <a:solidFill>
                  <a:srgbClr val="5B6B76"/>
                </a:solidFill>
              </a:rPr>
              <a:t>–  worktree, and closed out with a progress log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A5276"/>
                </a:solidFill>
              </a:rPr>
              <a:t>FastGIS — the GRASS backend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457200"/>
            <a:ext cx="1737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 i="0">
                <a:solidFill>
                  <a:srgbClr val="2E86C1"/>
                </a:solidFill>
              </a:rPr>
              <a:t>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63040"/>
            <a:ext cx="58521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4303D"/>
                </a:solidFill>
              </a:rPr>
              <a:t>•  Legacy flat, unauthenticated endpoint → api.fastgis.eu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4303D"/>
                </a:solidFill>
              </a:rPr>
              <a:t>•  Authenticated (X-API-Key), built around an environment model (env_id)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4303D"/>
                </a:solidFill>
              </a:rPr>
              <a:t>•  Schema-driven module dialogs — any GRASS module rendered from its interface</a:t>
            </a:r>
          </a:p>
          <a:p>
            <a:pPr algn="l" lvl="1">
              <a:spcAft>
                <a:spcPts val="600"/>
              </a:spcAft>
            </a:pPr>
            <a:r>
              <a:rPr sz="1300" b="0" i="0">
                <a:solidFill>
                  <a:srgbClr val="5B6B76"/>
                </a:solidFill>
              </a:rPr>
              <a:t>–  description; async runs polled via a QgsTask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4303D"/>
                </a:solidFill>
              </a:rPr>
              <a:t>•  Detachable QGIS panel: module picker, push output rasters back into QGIS,</a:t>
            </a:r>
          </a:p>
          <a:p>
            <a:pPr algn="l" lvl="1">
              <a:spcAft>
                <a:spcPts val="600"/>
              </a:spcAft>
            </a:pPr>
            <a:r>
              <a:rPr sz="1300" b="0" i="0">
                <a:solidFill>
                  <a:srgbClr val="5B6B76"/>
                </a:solidFill>
              </a:rPr>
              <a:t>–  show/hide the computational region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4303D"/>
                </a:solidFill>
              </a:rPr>
              <a:t>•  Same credentials carry the stereo roughness service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0" y="1554480"/>
            <a:ext cx="5120640" cy="4572000"/>
          </a:xfrm>
          <a:prstGeom prst="roundRect">
            <a:avLst/>
          </a:prstGeom>
          <a:solidFill>
            <a:srgbClr val="EAF2F8"/>
          </a:solidFill>
          <a:ln w="22225">
            <a:solidFill>
              <a:srgbClr val="2E86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 i="0">
                <a:solidFill>
                  <a:srgbClr val="1A5276"/>
                </a:solidFill>
              </a:rPr>
              <a:t>🖼  Screenshot</a:t>
            </a:r>
          </a:p>
          <a:p>
            <a:pPr algn="ctr"/>
            <a:r>
              <a:rPr sz="1100" b="0" i="0">
                <a:solidFill>
                  <a:srgbClr val="1A5276"/>
                </a:solidFill>
              </a:rPr>
              <a:t>GRASS Tools panel + a generated module form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A5276"/>
                </a:solidFill>
              </a:rPr>
              <a:t>MBES query builder &amp; ARA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457200"/>
            <a:ext cx="1737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 i="0">
                <a:solidFill>
                  <a:srgbClr val="2E86C1"/>
                </a:solidFill>
              </a:rPr>
              <a:t>FEATURE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63040"/>
            <a:ext cx="58521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4303D"/>
                </a:solidFill>
              </a:rPr>
              <a:t>•  Draw a sampling unit (ellipse / rectangle) on the soundings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4303D"/>
                </a:solidFill>
              </a:rPr>
              <a:t>•  ARA scatterplot, 3-D surface, histograms, statistics, in-shape image selection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4303D"/>
                </a:solidFill>
              </a:rPr>
              <a:t>•  Multi-level backscatter: auto-detects every BSWG-2015 level present</a:t>
            </a:r>
          </a:p>
          <a:p>
            <a:pPr algn="l" lvl="1">
              <a:spcAft>
                <a:spcPts val="600"/>
              </a:spcAft>
            </a:pPr>
            <a:r>
              <a:rPr sz="1300" b="0" i="0">
                <a:solidFill>
                  <a:srgbClr val="5B6B76"/>
                </a:solidFill>
              </a:rPr>
              <a:t>–  (BS_raw → BS_RL → BS_TL → BS_area → BS_AVG), back-compatible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4303D"/>
                </a:solidFill>
              </a:rPr>
              <a:t>•  Beam-side filtering (Raw / Port / Starboard / Fold) works correctly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4303D"/>
                </a:solidFill>
              </a:rPr>
              <a:t>•  Sampling centre uses the calibrated USBL fix, so marker, sample and</a:t>
            </a:r>
          </a:p>
          <a:p>
            <a:pPr algn="l" lvl="1">
              <a:spcAft>
                <a:spcPts val="600"/>
              </a:spcAft>
            </a:pPr>
            <a:r>
              <a:rPr sz="1300" b="0" i="0">
                <a:solidFill>
                  <a:srgbClr val="5B6B76"/>
                </a:solidFill>
              </a:rPr>
              <a:t>–  georeferenced rasters all coincide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0" y="1554480"/>
            <a:ext cx="5120640" cy="4572000"/>
          </a:xfrm>
          <a:prstGeom prst="roundRect">
            <a:avLst/>
          </a:prstGeom>
          <a:solidFill>
            <a:srgbClr val="EAF2F8"/>
          </a:solidFill>
          <a:ln w="22225">
            <a:solidFill>
              <a:srgbClr val="2E86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 i="0">
                <a:solidFill>
                  <a:srgbClr val="1A5276"/>
                </a:solidFill>
              </a:rPr>
              <a:t>🖼  Screenshot</a:t>
            </a:r>
          </a:p>
          <a:p>
            <a:pPr algn="ctr"/>
            <a:r>
              <a:rPr sz="1100" b="0" i="0">
                <a:solidFill>
                  <a:srgbClr val="1A5276"/>
                </a:solidFill>
              </a:rPr>
              <a:t>query builder: sampling unit + ARA scatterplot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A5276"/>
                </a:solidFill>
              </a:rPr>
              <a:t>Video player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457200"/>
            <a:ext cx="1737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 i="0">
                <a:solidFill>
                  <a:srgbClr val="2E86C1"/>
                </a:solidFill>
              </a:rPr>
              <a:t>FEATURE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63040"/>
            <a:ext cx="58521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4303D"/>
                </a:solidFill>
              </a:rPr>
              <a:t>•  Frame-accurate player docked in QGIS, driven from the metadata track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4303D"/>
                </a:solidFill>
              </a:rPr>
              <a:t>•  Interlaced-source support: PyAV + yadif — fixes the FFmpeg-8 black-frame failure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4303D"/>
                </a:solidFill>
              </a:rPr>
              <a:t>•  Geo-link: the canvas follows the frame at a fixed, CRS-independent map scale;</a:t>
            </a:r>
          </a:p>
          <a:p>
            <a:pPr algn="l" lvl="1">
              <a:spcAft>
                <a:spcPts val="600"/>
              </a:spcAft>
            </a:pPr>
            <a:r>
              <a:rPr sz="1300" b="0" i="0">
                <a:solidFill>
                  <a:srgbClr val="5B6B76"/>
                </a:solidFill>
              </a:rPr>
              <a:t>–  marker and map stay in sync during play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4303D"/>
                </a:solidFill>
              </a:rPr>
              <a:t>•  GPS track persisted as a real GeoJSON layer — restored with the project,</a:t>
            </a:r>
          </a:p>
          <a:p>
            <a:pPr algn="l" lvl="1">
              <a:spcAft>
                <a:spcPts val="600"/>
              </a:spcAft>
            </a:pPr>
            <a:r>
              <a:rPr sz="1300" b="0" i="0">
                <a:solidFill>
                  <a:srgbClr val="5B6B76"/>
                </a:solidFill>
              </a:rPr>
              <a:t>–  auto-regenerated on load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4303D"/>
                </a:solidFill>
              </a:rPr>
              <a:t>•  Per-frame bounding-box annotation; loads the MAREANO .log format directly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0" y="1554480"/>
            <a:ext cx="5120640" cy="4572000"/>
          </a:xfrm>
          <a:prstGeom prst="roundRect">
            <a:avLst/>
          </a:prstGeom>
          <a:solidFill>
            <a:srgbClr val="EAF2F8"/>
          </a:solidFill>
          <a:ln w="22225">
            <a:solidFill>
              <a:srgbClr val="2E86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 i="0">
                <a:solidFill>
                  <a:srgbClr val="1A5276"/>
                </a:solidFill>
              </a:rPr>
              <a:t>🖼  Screenshot</a:t>
            </a:r>
          </a:p>
          <a:p>
            <a:pPr algn="ctr"/>
            <a:r>
              <a:rPr sz="1100" b="0" i="0">
                <a:solidFill>
                  <a:srgbClr val="1A5276"/>
                </a:solidFill>
              </a:rPr>
              <a:t>video dock + GPS track on the map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A5276"/>
                </a:solidFill>
              </a:rPr>
              <a:t>Reporting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457200"/>
            <a:ext cx="1737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 i="0">
                <a:solidFill>
                  <a:srgbClr val="2E86C1"/>
                </a:solidFill>
              </a:rPr>
              <a:t>FEATURE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63040"/>
            <a:ext cx="58521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4303D"/>
                </a:solidFill>
              </a:rPr>
              <a:t>•  One click sends query-builder products to the report builder: ARA scatterplot,</a:t>
            </a:r>
          </a:p>
          <a:p>
            <a:pPr algn="l" lvl="1">
              <a:spcAft>
                <a:spcPts val="600"/>
              </a:spcAft>
            </a:pPr>
            <a:r>
              <a:rPr sz="1300" b="0" i="0">
                <a:solidFill>
                  <a:srgbClr val="5B6B76"/>
                </a:solidFill>
              </a:rPr>
              <a:t>–  3-D surface, histogram, statistics, sampling-unit description, image gallery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4303D"/>
                </a:solidFill>
              </a:rPr>
              <a:t>•  Output to KMZ (geo-referenced balloon) and a templated HTML report (Jinja2):</a:t>
            </a:r>
          </a:p>
          <a:p>
            <a:pPr algn="l" lvl="1">
              <a:spcAft>
                <a:spcPts val="600"/>
              </a:spcAft>
            </a:pPr>
            <a:r>
              <a:rPr sz="1300" b="0" i="0">
                <a:solidFill>
                  <a:srgbClr val="5B6B76"/>
                </a:solidFill>
              </a:rPr>
              <a:t>–  card layout, uniform thumbnails, click-to-zoom lightbox, browsable gallery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4303D"/>
                </a:solidFill>
              </a:rPr>
              <a:t>•  PDF export of the composed report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0" y="1554480"/>
            <a:ext cx="5120640" cy="4572000"/>
          </a:xfrm>
          <a:prstGeom prst="roundRect">
            <a:avLst/>
          </a:prstGeom>
          <a:solidFill>
            <a:srgbClr val="EAF2F8"/>
          </a:solidFill>
          <a:ln w="22225">
            <a:solidFill>
              <a:srgbClr val="2E86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 i="0">
                <a:solidFill>
                  <a:srgbClr val="1A5276"/>
                </a:solidFill>
              </a:rPr>
              <a:t>🖼  Screenshot</a:t>
            </a:r>
          </a:p>
          <a:p>
            <a:pPr algn="ctr"/>
            <a:r>
              <a:rPr sz="1100" b="0" i="0">
                <a:solidFill>
                  <a:srgbClr val="1A5276"/>
                </a:solidFill>
              </a:rPr>
              <a:t>HTML report with gallery + statistics table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A5276"/>
                </a:solidFill>
              </a:rPr>
              <a:t>Documentation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457200"/>
            <a:ext cx="1737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 i="0">
                <a:solidFill>
                  <a:srgbClr val="2E86C1"/>
                </a:solidFill>
              </a:rPr>
              <a:t>DOCS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4303D"/>
                </a:solidFill>
              </a:rPr>
              <a:t>•  User-facing docs are a MkDocs Material site, published to</a:t>
            </a:r>
          </a:p>
          <a:p>
            <a:pPr algn="l" lvl="1">
              <a:spcAft>
                <a:spcPts val="600"/>
              </a:spcAft>
            </a:pPr>
            <a:r>
              <a:rPr sz="1500" b="0" i="0">
                <a:solidFill>
                  <a:srgbClr val="5B6B76"/>
                </a:solidFill>
              </a:rPr>
              <a:t>–  epifanio.github.io/groundtruther on merge</a:t>
            </a:r>
          </a:p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4303D"/>
                </a:solidFill>
              </a:rPr>
              <a:t>•  Installation (Linux / macOS / Windows) · Tools (one page per feature) ·</a:t>
            </a:r>
          </a:p>
          <a:p>
            <a:pPr algn="l" lvl="1">
              <a:spcAft>
                <a:spcPts val="600"/>
              </a:spcAft>
            </a:pPr>
            <a:r>
              <a:rPr sz="1500" b="0" i="0">
                <a:solidFill>
                  <a:srgbClr val="5B6B76"/>
                </a:solidFill>
              </a:rPr>
              <a:t>–  Configuration (all 27 keys + the validation model) · Data model · Architecture</a:t>
            </a:r>
          </a:p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4303D"/>
                </a:solidFill>
              </a:rPr>
              <a:t>•  A data-model reference documents every column the plugin reads — including</a:t>
            </a:r>
          </a:p>
          <a:p>
            <a:pPr algn="l" lvl="1">
              <a:spcAft>
                <a:spcPts val="600"/>
              </a:spcAft>
            </a:pPr>
            <a:r>
              <a:rPr sz="1500" b="0" i="0">
                <a:solidFill>
                  <a:srgbClr val="5B6B76"/>
                </a:solidFill>
              </a:rPr>
              <a:t>–  which position column is the USBL fix and which is a model.</a:t>
            </a:r>
          </a:p>
          <a:p>
            <a:pPr algn="l" lvl="1">
              <a:spcAft>
                <a:spcPts val="600"/>
              </a:spcAft>
            </a:pPr>
            <a:r>
              <a:rPr sz="1500" b="0" i="0">
                <a:solidFill>
                  <a:srgbClr val="5B6B76"/>
                </a:solidFill>
              </a:rPr>
              <a:t>–  This is what surfaced the 180° bug in Act II.</a:t>
            </a:r>
          </a:p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4303D"/>
                </a:solidFill>
              </a:rPr>
              <a:t>•  mkdocs build --strict in CI catches broken links and orphan pages; a unit test</a:t>
            </a:r>
          </a:p>
          <a:p>
            <a:pPr algn="l" lvl="1">
              <a:spcAft>
                <a:spcPts val="600"/>
              </a:spcAft>
            </a:pPr>
            <a:r>
              <a:rPr sz="1500" b="0" i="0">
                <a:solidFill>
                  <a:srgbClr val="5B6B76"/>
                </a:solidFill>
              </a:rPr>
              <a:t>–  fails if a config key is added without its documentation row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194560"/>
            <a:ext cx="103327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0" b="1" i="0">
                <a:solidFill>
                  <a:srgbClr val="1A5276"/>
                </a:solidFill>
              </a:rPr>
              <a:t>Act II</a:t>
            </a:r>
          </a:p>
          <a:p>
            <a:pPr algn="ctr">
              <a:spcBef>
                <a:spcPts val="800"/>
              </a:spcBef>
            </a:pPr>
            <a:r>
              <a:rPr sz="2600" b="1" i="0">
                <a:solidFill>
                  <a:srgbClr val="0E6E6E"/>
                </a:solidFill>
              </a:rPr>
              <a:t>Optical geometry</a:t>
            </a:r>
          </a:p>
          <a:p>
            <a:pPr algn="ctr"/>
            <a:r>
              <a:rPr sz="1400" b="0" i="0">
                <a:solidFill>
                  <a:srgbClr val="5B6B76"/>
                </a:solidFill>
              </a:rPr>
              <a:t>Stereo reconstruction · roughness · georeferencing · mosaics ·</a:t>
            </a:r>
          </a:p>
          <a:p>
            <a:pPr algn="ctr"/>
            <a:r>
              <a:rPr sz="1400" b="0" i="0">
                <a:solidFill>
                  <a:srgbClr val="5B6B76"/>
                </a:solidFill>
              </a:rPr>
              <a:t>the seabed ribbon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A5276"/>
                </a:solidFill>
              </a:rPr>
              <a:t>The gap this act is about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B6B76"/>
                </a:solidFill>
              </a:rPr>
              <a:t>Roughness is measured inside one camera frame. Backscatter is measured over a footprint metres across. Between them sat a scale range nothing was measuring.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2057400"/>
          <a:ext cx="10881360" cy="10241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52544"/>
                <a:gridCol w="6528816"/>
              </a:tblGrid>
              <a:tr h="256032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</a:rPr>
                        <a:t>product</a:t>
                      </a:r>
                    </a:p>
                  </a:txBody>
                  <a:tcPr marL="54864" marR="54864" marT="18288" marB="18288" anchor="ctr">
                    <a:solidFill>
                      <a:srgbClr val="1A527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</a:rPr>
                        <a:t>wavelengths it supports</a:t>
                      </a:r>
                    </a:p>
                  </a:txBody>
                  <a:tcPr marL="54864" marR="54864" marT="18288" marB="18288" anchor="ctr">
                    <a:solidFill>
                      <a:srgbClr val="1A5276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4303D"/>
                          </a:solidFill>
                        </a:rPr>
                        <a:t>per-frame stereo micro-DEM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4303D"/>
                          </a:solidFill>
                        </a:rPr>
                        <a:t>~3 mm … 1.2 m (one frame's footprint)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4303D"/>
                          </a:solidFill>
                        </a:rPr>
                        <a:t>MBES bathymetry (1 m grid)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4303D"/>
                          </a:solidFill>
                        </a:rPr>
                        <a:t>≥ 2–3 m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4303D"/>
                          </a:solidFill>
                        </a:rPr>
                        <a:t>the photogrammetric ribbon</a:t>
                      </a:r>
                    </a:p>
                  </a:txBody>
                  <a:tcPr marL="54864" marR="54864" marT="18288" marB="18288" anchor="ctr">
                    <a:solidFill>
                      <a:srgbClr val="EAF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4303D"/>
                          </a:solidFill>
                        </a:rPr>
                        <a:t>3 mm … 170 m — it spans the whole range</a:t>
                      </a:r>
                    </a:p>
                  </a:txBody>
                  <a:tcPr marL="54864" marR="54864" marT="18288" marB="18288" anchor="ctr">
                    <a:solidFill>
                      <a:srgbClr val="EAF6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3282696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E6E6E"/>
                </a:solidFill>
              </a:rPr>
              <a:t>γ₂ is fitted at frame scale, then used to interpret acoustics at metre scale. Nobody had checked the power law holds across the gap.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A5276"/>
                </a:solidFill>
              </a:rPr>
              <a:t>Stereo photogrammetric reconstruction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457200"/>
            <a:ext cx="1737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 i="0">
                <a:solidFill>
                  <a:srgbClr val="2E86C1"/>
                </a:solidFill>
              </a:rPr>
              <a:t>NEW TOOL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63040"/>
            <a:ext cx="58521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4303D"/>
                </a:solidFill>
              </a:rPr>
              <a:t>•  A real-height micro-DEM of the patch under the camera, from the HabCam</a:t>
            </a:r>
          </a:p>
          <a:p>
            <a:pPr algn="l" lvl="1">
              <a:spcAft>
                <a:spcPts val="600"/>
              </a:spcAft>
            </a:pPr>
            <a:r>
              <a:rPr sz="1300" b="0" i="0">
                <a:solidFill>
                  <a:srgbClr val="5B6B76"/>
                </a:solidFill>
              </a:rPr>
              <a:t>–  stereo pair itself — independently of the acoustics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4303D"/>
                </a:solidFill>
              </a:rPr>
              <a:t>•  Computed server-side on a GPU (RAFT-Stereo, SGBM fallback). Only the frame's</a:t>
            </a:r>
          </a:p>
          <a:p>
            <a:pPr algn="l" lvl="1">
              <a:spcAft>
                <a:spcPts val="600"/>
              </a:spcAft>
            </a:pPr>
            <a:r>
              <a:rPr sz="1300" b="0" i="0">
                <a:solidFill>
                  <a:srgbClr val="5B6B76"/>
                </a:solidFill>
              </a:rPr>
              <a:t>–  Imagename is sent — no image bytes leave the machine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4303D"/>
                </a:solidFill>
              </a:rPr>
              <a:t>•  Float32 heights in millimetres, ~2–5 mm cells, NaN no-data, plus a</a:t>
            </a:r>
          </a:p>
          <a:p>
            <a:pPr algn="l" lvl="1">
              <a:spcAft>
                <a:spcPts val="600"/>
              </a:spcAft>
            </a:pPr>
            <a:r>
              <a:rPr sz="1300" b="0" i="0">
                <a:solidFill>
                  <a:srgbClr val="5B6B76"/>
                </a:solidFill>
              </a:rPr>
              <a:t>–  cell-for-cell co-registered orthophoto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4303D"/>
                </a:solidFill>
              </a:rPr>
              <a:t>•  Micro-DEM 3-D tab — the mesh draped with the orthophoto 1:1 (one texel/vertex)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4303D"/>
                </a:solidFill>
              </a:rPr>
              <a:t>•  Edge spikes masked, not hidden: trim border · clip σ · erode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4303D"/>
                </a:solidFill>
              </a:rPr>
              <a:t>•  Background QgsTask, cached per frame: ~14 s first, ~0.5 s after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0" y="1554480"/>
            <a:ext cx="5120640" cy="4572000"/>
          </a:xfrm>
          <a:prstGeom prst="roundRect">
            <a:avLst/>
          </a:prstGeom>
          <a:solidFill>
            <a:srgbClr val="EAF2F8"/>
          </a:solidFill>
          <a:ln w="22225">
            <a:solidFill>
              <a:srgbClr val="2E86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 i="0">
                <a:solidFill>
                  <a:srgbClr val="1A5276"/>
                </a:solidFill>
              </a:rPr>
              <a:t>🖼  Screenshot</a:t>
            </a:r>
          </a:p>
          <a:p>
            <a:pPr algn="ctr"/>
            <a:r>
              <a:rPr sz="1100" b="0" i="0">
                <a:solidFill>
                  <a:srgbClr val="1A5276"/>
                </a:solidFill>
              </a:rPr>
              <a:t>Micro-DEM 3D tab, photo-textured mesh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A5276"/>
                </a:solidFill>
              </a:rPr>
              <a:t>Seafloor roughness — γ₂, and what to trust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457200"/>
            <a:ext cx="1737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 i="0">
                <a:solidFill>
                  <a:srgbClr val="2E86C1"/>
                </a:solidFill>
              </a:rPr>
              <a:t>NEW TOOL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63040"/>
            <a:ext cx="58521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4303D"/>
                </a:solidFill>
              </a:rPr>
              <a:t>•  Metrics tab: γ₂ · substrate &amp; texture hints · w₂ · rms height · rugosity ·</a:t>
            </a:r>
          </a:p>
          <a:p>
            <a:pPr algn="l" lvl="1">
              <a:spcAft>
                <a:spcPts val="600"/>
              </a:spcAft>
            </a:pPr>
            <a:r>
              <a:rPr sz="1300" b="0" i="0">
                <a:solidFill>
                  <a:srgbClr val="5B6B76"/>
                </a:solidFill>
              </a:rPr>
              <a:t>–  anisotropy · altitude · quality · matcher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4303D"/>
                </a:solidFill>
              </a:rPr>
              <a:t>•  Spectrum tab: radial relief power spectrum log-log, fitted power law, fit band</a:t>
            </a:r>
          </a:p>
          <a:p>
            <a:pPr algn="l" lvl="1">
              <a:spcAft>
                <a:spcPts val="600"/>
              </a:spcAft>
            </a:pPr>
            <a:r>
              <a:rPr sz="1300" b="0" i="0">
                <a:solidFill>
                  <a:srgbClr val="5B6B76"/>
                </a:solidFill>
              </a:rPr>
              <a:t>–  shaded, γ₂ / w₂ / R² annotated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4303D"/>
                </a:solidFill>
              </a:rPr>
              <a:t>•  γ₂ — the spectral exponent — is the load-bearing output. Robust across matchers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4303D"/>
                </a:solidFill>
              </a:rPr>
              <a:t>•  w₂ and rms are NOT trustworthy in absolute terms: no consistent RAFT-vs-SGBM</a:t>
            </a:r>
          </a:p>
          <a:p>
            <a:pPr algn="l" lvl="1">
              <a:spcAft>
                <a:spcPts val="600"/>
              </a:spcAft>
            </a:pPr>
            <a:r>
              <a:rPr sz="1300" b="0" i="0">
                <a:solidFill>
                  <a:srgbClr val="5B6B76"/>
                </a:solidFill>
              </a:rPr>
              <a:t>–  bias, and the median rms (50 mm) sits far above the 3–23 mm literature range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4303D"/>
                </a:solidFill>
              </a:rPr>
              <a:t>•  When quality != ok, every field is null — shown, not faked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4303D"/>
                </a:solidFill>
              </a:rPr>
              <a:t>•  Where the curve peels off the fit at high K, that's the stereo noise floor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0" y="1554480"/>
            <a:ext cx="5120640" cy="4572000"/>
          </a:xfrm>
          <a:prstGeom prst="roundRect">
            <a:avLst/>
          </a:prstGeom>
          <a:solidFill>
            <a:srgbClr val="EAF2F8"/>
          </a:solidFill>
          <a:ln w="22225">
            <a:solidFill>
              <a:srgbClr val="2E86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 i="0">
                <a:solidFill>
                  <a:srgbClr val="1A5276"/>
                </a:solidFill>
              </a:rPr>
              <a:t>🖼  Screenshot</a:t>
            </a:r>
          </a:p>
          <a:p>
            <a:pPr algn="ctr"/>
            <a:r>
              <a:rPr sz="1100" b="0" i="0">
                <a:solidFill>
                  <a:srgbClr val="1A5276"/>
                </a:solidFill>
              </a:rPr>
              <a:t>Metrics + Spectrum tabs side by side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A5276"/>
                </a:solidFill>
              </a:rPr>
              <a:t>Georeferencing — and a 180° bug worth telling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457200"/>
            <a:ext cx="1737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 i="0">
                <a:solidFill>
                  <a:srgbClr val="2E86C1"/>
                </a:solidFill>
              </a:rPr>
              <a:t>FIX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B6B76"/>
                </a:solidFill>
              </a:rPr>
              <a:t>The bug (#31): the plugin sent the nav's `bearing` column as heading. bearing points ASTERN — so every georeferenced product was rotated 180°, and a saved ±180 heading offset was the natural way to paper over it.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2057400"/>
          <a:ext cx="10881360" cy="7680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63440"/>
                <a:gridCol w="3108960"/>
                <a:gridCol w="3108960"/>
              </a:tblGrid>
              <a:tr h="256032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</a:rPr>
                        <a:t>hypothesis</a:t>
                      </a:r>
                    </a:p>
                  </a:txBody>
                  <a:tcPr marL="54864" marR="54864" marT="18288" marB="18288" anchor="ctr">
                    <a:solidFill>
                      <a:srgbClr val="1A527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</a:rPr>
                        <a:t>median residual</a:t>
                      </a:r>
                    </a:p>
                  </a:txBody>
                  <a:tcPr marL="54864" marR="54864" marT="18288" marB="18288" anchor="ctr">
                    <a:solidFill>
                      <a:srgbClr val="1A527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</a:rPr>
                        <a:t>within 30°</a:t>
                      </a:r>
                    </a:p>
                  </a:txBody>
                  <a:tcPr marL="54864" marR="54864" marT="18288" marB="18288" anchor="ctr">
                    <a:solidFill>
                      <a:srgbClr val="1A5276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4303D"/>
                          </a:solidFill>
                        </a:rPr>
                        <a:t>heading = bearing (old)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4303D"/>
                          </a:solidFill>
                        </a:rPr>
                        <a:t>−175.3°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4303D"/>
                          </a:solidFill>
                        </a:rPr>
                        <a:t>0 %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4303D"/>
                          </a:solidFill>
                        </a:rPr>
                        <a:t>heading = bearing + 180</a:t>
                      </a:r>
                    </a:p>
                  </a:txBody>
                  <a:tcPr marL="54864" marR="54864" marT="18288" marB="18288" anchor="ctr">
                    <a:solidFill>
                      <a:srgbClr val="EAF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4303D"/>
                          </a:solidFill>
                        </a:rPr>
                        <a:t>+3.9°</a:t>
                      </a:r>
                    </a:p>
                  </a:txBody>
                  <a:tcPr marL="54864" marR="54864" marT="18288" marB="18288" anchor="ctr">
                    <a:solidFill>
                      <a:srgbClr val="EAF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4303D"/>
                          </a:solidFill>
                        </a:rPr>
                        <a:t>100 %</a:t>
                      </a:r>
                    </a:p>
                  </a:txBody>
                  <a:tcPr marL="54864" marR="54864" marT="18288" marB="18288" anchor="ctr">
                    <a:solidFill>
                      <a:srgbClr val="EAF6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3026664"/>
            <a:ext cx="10972800" cy="3465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4303D"/>
                </a:solidFill>
              </a:rPr>
              <a:t>•  Proved on the imagery, not by argument: imagery-derived course minus nav course</a:t>
            </a:r>
          </a:p>
          <a:p>
            <a:pPr algn="l" lvl="1">
              <a:spcAft>
                <a:spcPts val="600"/>
              </a:spcAft>
            </a:pPr>
            <a:r>
              <a:rPr sz="1200" b="0" i="0">
                <a:solidFill>
                  <a:srgbClr val="5B6B76"/>
                </a:solidFill>
              </a:rPr>
              <a:t>–  over 250 registered frame pairs (table above)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4303D"/>
                </a:solidFill>
              </a:rPr>
              <a:t>•  Side benefit: a single frame's heading is good to ~4° — now a measured number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4303D"/>
                </a:solidFill>
              </a:rPr>
              <a:t>•  Rotation ≠ reflection. Heading offset fixes a rotation; Mirror fixes a handedness</a:t>
            </a:r>
          </a:p>
          <a:p>
            <a:pPr algn="l" lvl="1">
              <a:spcAft>
                <a:spcPts val="600"/>
              </a:spcAft>
            </a:pPr>
            <a:r>
              <a:rPr sz="1200" b="0" i="0">
                <a:solidFill>
                  <a:srgbClr val="5B6B76"/>
                </a:solidFill>
              </a:rPr>
              <a:t>–  flip. No rotation can undo a reflection — rasters exported before the fix</a:t>
            </a:r>
          </a:p>
          <a:p>
            <a:pPr algn="l" lvl="1">
              <a:spcAft>
                <a:spcPts val="600"/>
              </a:spcAft>
            </a:pPr>
            <a:r>
              <a:rPr sz="1200" b="0" i="0">
                <a:solidFill>
                  <a:srgbClr val="5B6B76"/>
                </a:solidFill>
              </a:rPr>
              <a:t>–  are 180° out and need regenerating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A5276"/>
                </a:solidFill>
              </a:rPr>
              <a:t>Georeferenced mosaics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457200"/>
            <a:ext cx="1737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 i="0">
                <a:solidFill>
                  <a:srgbClr val="2E86C1"/>
                </a:solidFill>
              </a:rPr>
              <a:t>NEW TOOL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371600"/>
          <a:ext cx="1088136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6272"/>
                <a:gridCol w="8705088"/>
              </a:tblGrid>
              <a:tr h="256032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</a:rPr>
                        <a:t>mode</a:t>
                      </a:r>
                    </a:p>
                  </a:txBody>
                  <a:tcPr marL="54864" marR="54864" marT="18288" marB="18288" anchor="ctr">
                    <a:solidFill>
                      <a:srgbClr val="1A527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</a:rPr>
                        <a:t>how frames are placed</a:t>
                      </a:r>
                    </a:p>
                  </a:txBody>
                  <a:tcPr marL="54864" marR="54864" marT="18288" marB="18288" anchor="ctr">
                    <a:solidFill>
                      <a:srgbClr val="1A5276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4303D"/>
                          </a:solidFill>
                        </a:rPr>
                        <a:t>Auto (default)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4303D"/>
                          </a:solidFill>
                        </a:rPr>
                        <a:t>Per window, from nav-predicted overlap: piled-up → pixel, well-spread → flat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4303D"/>
                          </a:solidFill>
                        </a:rPr>
                        <a:t>Flat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4303D"/>
                          </a:solidFill>
                        </a:rPr>
                        <a:t>Navigation alone (position, heading, flat-seabed scale). Fast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4303D"/>
                          </a:solidFill>
                        </a:rPr>
                        <a:t>Ortho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4303D"/>
                          </a:solidFill>
                        </a:rPr>
                        <a:t>Relief-corrected per-frame orthophoto, then nav placement. Slowest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4303D"/>
                          </a:solidFill>
                        </a:rPr>
                        <a:t>Pixel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4303D"/>
                          </a:solidFill>
                        </a:rPr>
                        <a:t>Registered by image content, georeferenced through the reference frame's nav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2852928"/>
            <a:ext cx="10972800" cy="3639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4303D"/>
                </a:solidFill>
              </a:rPr>
              <a:t>•  Illumination correction (flat-fields the strobe vignette) and gain compensation</a:t>
            </a:r>
          </a:p>
          <a:p>
            <a:pPr algn="l" lvl="1">
              <a:spcAft>
                <a:spcPts val="600"/>
              </a:spcAft>
            </a:pPr>
            <a:r>
              <a:rPr sz="1200" b="0" i="0">
                <a:solidFill>
                  <a:srgbClr val="5B6B76"/>
                </a:solidFill>
              </a:rPr>
              <a:t>–  on by default — this is what makes a mosaic look continuous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4303D"/>
                </a:solidFill>
              </a:rPr>
              <a:t>•  Presets: Browse (3 mm, fast) · Publication (ortho, 0.8 mm, lanczos, 8192 px, RGBA)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4303D"/>
                </a:solidFill>
              </a:rPr>
              <a:t>•  Honest failure mode: featureless mud cannot be content-registered by any method —</a:t>
            </a:r>
          </a:p>
          <a:p>
            <a:pPr algn="l" lvl="1">
              <a:spcAft>
                <a:spcPts val="600"/>
              </a:spcAft>
            </a:pPr>
            <a:r>
              <a:rPr sz="1200" b="0" i="0">
                <a:solidFill>
                  <a:srgbClr val="5B6B76"/>
                </a:solidFill>
              </a:rPr>
              <a:t>–  'only 0/10 pairs registered — low texture, mosaic is nav-placed'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A5276"/>
                </a:solidFill>
              </a:rPr>
              <a:t>The photogrammetric seabed ribbon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457200"/>
            <a:ext cx="1737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 i="0">
                <a:solidFill>
                  <a:srgbClr val="2E86C1"/>
                </a:solidFill>
              </a:rPr>
              <a:t>NEW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14303D"/>
                </a:solidFill>
              </a:rPr>
              <a:t>•  Composite a few hundred per-frame micro-DEMs along ONE HabCam line into ~170 m</a:t>
            </a:r>
          </a:p>
          <a:p>
            <a:pPr algn="l" lvl="1">
              <a:spcAft>
                <a:spcPts val="600"/>
              </a:spcAft>
            </a:pPr>
            <a:r>
              <a:rPr sz="1150" b="0" i="0">
                <a:solidFill>
                  <a:srgbClr val="5B6B76"/>
                </a:solidFill>
              </a:rPr>
              <a:t>–  of millimetre-resolution georeferenced seabed. A script (scripts/build_ribbon.py),</a:t>
            </a:r>
          </a:p>
          <a:p>
            <a:pPr algn="l" lvl="1">
              <a:spcAft>
                <a:spcPts val="600"/>
              </a:spcAft>
            </a:pPr>
            <a:r>
              <a:rPr sz="1150" b="0" i="0">
                <a:solidFill>
                  <a:srgbClr val="5B6B76"/>
                </a:solidFill>
              </a:rPr>
              <a:t>–  not yet a dock — look at a ribbon first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14303D"/>
                </a:solidFill>
              </a:rPr>
              <a:t>•  Choose the strip by TEXTURE, never by relief. On this survey they are</a:t>
            </a:r>
          </a:p>
          <a:p>
            <a:pPr algn="l" lvl="1">
              <a:spcAft>
                <a:spcPts val="600"/>
              </a:spcAft>
            </a:pPr>
            <a:r>
              <a:rPr sz="1150" b="0" i="0">
                <a:solidFill>
                  <a:srgbClr val="5B6B76"/>
                </a:solidFill>
              </a:rPr>
              <a:t>–  uncorrelated: two runs with ~4 m of relief (3.75 and 4.04 m) linked on 0 % of</a:t>
            </a:r>
          </a:p>
          <a:p>
            <a:pPr algn="l" lvl="1">
              <a:spcAft>
                <a:spcPts val="600"/>
              </a:spcAft>
            </a:pPr>
            <a:r>
              <a:rPr sz="1150" b="0" i="0">
                <a:solidFill>
                  <a:srgbClr val="5B6B76"/>
                </a:solidFill>
              </a:rPr>
              <a:t>–  sampled pairs — featureless mud — while the strip with the MOST relief in the</a:t>
            </a:r>
          </a:p>
          <a:p>
            <a:pPr algn="l" lvl="1">
              <a:spcAft>
                <a:spcPts val="600"/>
              </a:spcAft>
            </a:pPr>
            <a:r>
              <a:rPr sz="1150" b="0" i="0">
                <a:solidFill>
                  <a:srgbClr val="5B6B76"/>
                </a:solidFill>
              </a:rPr>
              <a:t>–  survey (5.80 m) managed only 22 median inliers. Picking by relief would have</a:t>
            </a:r>
          </a:p>
          <a:p>
            <a:pPr algn="l" lvl="1">
              <a:spcAft>
                <a:spcPts val="600"/>
              </a:spcAft>
            </a:pPr>
            <a:r>
              <a:rPr sz="1150" b="0" i="0">
                <a:solidFill>
                  <a:srgbClr val="5B6B76"/>
                </a:solidFill>
              </a:rPr>
              <a:t>–  chosen one of the dead ones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14303D"/>
                </a:solidFill>
              </a:rPr>
              <a:t>•  ORB + RANSAC needs help here: no preprocessing (CLAHE and flat-fielding both</a:t>
            </a:r>
          </a:p>
          <a:p>
            <a:pPr algn="l" lvl="1">
              <a:spcAft>
                <a:spcPts val="600"/>
              </a:spcAft>
            </a:pPr>
            <a:r>
              <a:rPr sz="1150" b="0" i="0">
                <a:solidFill>
                  <a:srgbClr val="5B6B76"/>
                </a:solidFill>
              </a:rPr>
              <a:t>–  LOWERED inliers), a loose Lowe ratio 0.95, detection masked to the overlapping</a:t>
            </a:r>
          </a:p>
          <a:p>
            <a:pPr algn="l" lvl="1">
              <a:spcAft>
                <a:spcPts val="600"/>
              </a:spcAft>
            </a:pPr>
            <a:r>
              <a:rPr sz="1150" b="0" i="0">
                <a:solidFill>
                  <a:srgbClr val="5B6B76"/>
                </a:solidFill>
              </a:rPr>
              <a:t>–  band, and a displacement prefilter + physical gate — without the gate RANSAC</a:t>
            </a:r>
          </a:p>
          <a:p>
            <a:pPr algn="l" lvl="1">
              <a:spcAft>
                <a:spcPts val="600"/>
              </a:spcAft>
            </a:pPr>
            <a:r>
              <a:rPr sz="1150" b="0" i="0">
                <a:solidFill>
                  <a:srgbClr val="5B6B76"/>
                </a:solidFill>
              </a:rPr>
              <a:t>–  confidently returns 15–25-inlier consensuses on completely wrong transforms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14303D"/>
                </a:solidFill>
              </a:rPr>
              <a:t>•  Pixels where they work, navigation everywhere else: the USBL is</a:t>
            </a:r>
          </a:p>
          <a:p>
            <a:pPr algn="l" lvl="1">
              <a:spcAft>
                <a:spcPts val="600"/>
              </a:spcAft>
            </a:pPr>
            <a:r>
              <a:rPr sz="1150" b="0" i="0">
                <a:solidFill>
                  <a:srgbClr val="5B6B76"/>
                </a:solidFill>
              </a:rPr>
              <a:t>–  piecewise-constant (median step 92 mm against a true 491 mm), so nav-placed</a:t>
            </a:r>
          </a:p>
          <a:p>
            <a:pPr algn="l" lvl="1">
              <a:spcAft>
                <a:spcPts val="600"/>
              </a:spcAft>
            </a:pPr>
            <a:r>
              <a:rPr sz="1150" b="0" i="0">
                <a:solidFill>
                  <a:srgbClr val="5B6B76"/>
                </a:solidFill>
              </a:rPr>
              <a:t>–  frames stack in clumps of ~6 and jump. The chain integrates the links, bridges</a:t>
            </a:r>
          </a:p>
          <a:p>
            <a:pPr algn="l" lvl="1">
              <a:spcAft>
                <a:spcPts val="600"/>
              </a:spcAft>
            </a:pPr>
            <a:r>
              <a:rPr sz="1150" b="0" i="0">
                <a:solidFill>
                  <a:srgbClr val="5B6B76"/>
                </a:solidFill>
              </a:rPr>
              <a:t>–  gaps with nav, then rubber-sheets back onto it — absolute placement from the</a:t>
            </a:r>
          </a:p>
          <a:p>
            <a:pPr algn="l" lvl="1">
              <a:spcAft>
                <a:spcPts val="600"/>
              </a:spcAft>
            </a:pPr>
            <a:r>
              <a:rPr sz="1150" b="0" i="0">
                <a:solidFill>
                  <a:srgbClr val="5B6B76"/>
                </a:solidFill>
              </a:rPr>
              <a:t>–  USBL, relative geometry from the pixels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A5276"/>
                </a:solidFill>
              </a:rPr>
              <a:t>The ribbon — measured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457200"/>
            <a:ext cx="1737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 i="0">
                <a:solidFill>
                  <a:srgbClr val="2E86C1"/>
                </a:solidFill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B6B76"/>
                </a:solidFill>
              </a:rPr>
              <a:t>Strip 6663–6958: 296 frames, 172 m, EPSG:32619, track-aligned at 273.1°, 1256 × 48 339 cells at 3 mm.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2057400"/>
          <a:ext cx="10881360" cy="1536192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4352544"/>
                <a:gridCol w="6528816"/>
              </a:tblGrid>
              <a:tr h="256032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4303D"/>
                          </a:solidFill>
                        </a:rPr>
                        <a:t>link rate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4303D"/>
                          </a:solidFill>
                        </a:rPr>
                        <a:t>89.8 % (265 / 295 pairs), median 309 inliers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4303D"/>
                          </a:solidFill>
                        </a:rPr>
                        <a:t>longest unbroken registered run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4303D"/>
                          </a:solidFill>
                        </a:rPr>
                        <a:t>119 pairs (mean 48)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4303D"/>
                          </a:solidFill>
                        </a:rPr>
                        <a:t>quality != ok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4303D"/>
                          </a:solidFill>
                        </a:rPr>
                        <a:t>2.0 % (6 frames, all insufficient_coverage)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4303D"/>
                          </a:solidFill>
                        </a:rPr>
                        <a:t>service altitude vs Altimeter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4303D"/>
                          </a:solidFill>
                        </a:rPr>
                        <a:t>median 37 mm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4303D"/>
                          </a:solidFill>
                        </a:rPr>
                        <a:t>seam error, pixel-linked</a:t>
                      </a:r>
                    </a:p>
                  </a:txBody>
                  <a:tcPr marL="54864" marR="54864" marT="18288" marB="18288" anchor="ctr">
                    <a:solidFill>
                      <a:srgbClr val="EAF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4303D"/>
                          </a:solidFill>
                        </a:rPr>
                        <a:t>62.0 mm → 13.7 mm after levelling</a:t>
                      </a:r>
                    </a:p>
                  </a:txBody>
                  <a:tcPr marL="54864" marR="54864" marT="18288" marB="18288" anchor="ctr">
                    <a:solidFill>
                      <a:srgbClr val="EAF6FF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4303D"/>
                          </a:solidFill>
                        </a:rPr>
                        <a:t>seam error, nav-bridged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4303D"/>
                          </a:solidFill>
                        </a:rPr>
                        <a:t>235.5 mm → 119.3 mm — 8.7× worse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3794760"/>
            <a:ext cx="1097280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4303D"/>
                </a:solidFill>
              </a:rPr>
              <a:t>•  The vertical error was the depth sensor, not the stereo. V_Depth is quantized to</a:t>
            </a:r>
          </a:p>
          <a:p>
            <a:pPr algn="l" lvl="1">
              <a:spcAft>
                <a:spcPts val="600"/>
              </a:spcAft>
            </a:pPr>
            <a:r>
              <a:rPr sz="1200" b="0" i="0">
                <a:solidFill>
                  <a:srgbClr val="5B6B76"/>
                </a:solidFill>
              </a:rPr>
              <a:t>–  10 mm and steps with σ = 82 mm — essentially the whole per-frame scatter.</a:t>
            </a:r>
          </a:p>
          <a:p>
            <a:pPr algn="l" lvl="1">
              <a:spcAft>
                <a:spcPts val="600"/>
              </a:spcAft>
            </a:pPr>
            <a:r>
              <a:rPr sz="1200" b="0" i="0">
                <a:solidFill>
                  <a:srgbClr val="5B6B76"/>
                </a:solidFill>
              </a:rPr>
              <a:t>–  Levelling solves per-frame offsets from overlap medians (robust IRLS, lag-1 and</a:t>
            </a:r>
          </a:p>
          <a:p>
            <a:pPr algn="l" lvl="1">
              <a:spcAft>
                <a:spcPts val="600"/>
              </a:spcAft>
            </a:pPr>
            <a:r>
              <a:rPr sz="1200" b="0" i="0">
                <a:solidFill>
                  <a:srgbClr val="5B6B76"/>
                </a:solidFill>
              </a:rPr>
              <a:t>–  lag-2 pairs for loop closure), keeping the datum with the vehicle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4303D"/>
                </a:solidFill>
              </a:rPr>
              <a:t>•  The trade, stated: seams 4.5× better, but the 1 m profile agrees LESS with the</a:t>
            </a:r>
          </a:p>
          <a:p>
            <a:pPr algn="l" lvl="1">
              <a:spcAft>
                <a:spcPts val="600"/>
              </a:spcAft>
            </a:pPr>
            <a:r>
              <a:rPr sz="1200" b="0" i="0">
                <a:solidFill>
                  <a:srgbClr val="5B6B76"/>
                </a:solidFill>
              </a:rPr>
              <a:t>–  MBES (0.147 → 0.185 m). Some large corrections over-fit bad overlaps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4303D"/>
                </a:solidFill>
              </a:rPr>
              <a:t>•  Independent checks: chain azimuth 273.1° vs nav 273.2°; focal length calibrated</a:t>
            </a:r>
          </a:p>
          <a:p>
            <a:pPr algn="l" lvl="1">
              <a:spcAft>
                <a:spcPts val="600"/>
              </a:spcAft>
            </a:pPr>
            <a:r>
              <a:rPr sz="1200" b="0" i="0">
                <a:solidFill>
                  <a:srgbClr val="5B6B76"/>
                </a:solidFill>
              </a:rPr>
              <a:t>–  against nav displacement 2507 px vs nominal 2480.28 — ratio 1.011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A5276"/>
                </a:solidFill>
              </a:rPr>
              <a:t>Does the power law cross the gap?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457200"/>
            <a:ext cx="1737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 i="0">
                <a:solidFill>
                  <a:srgbClr val="2E86C1"/>
                </a:solidFill>
              </a:rPr>
              <a:t>SUGGESTIVE, NOT SETTLED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14303D"/>
                </a:solidFill>
              </a:rPr>
              <a:t>•  The per-frame fit is 2-D and isotropic; a ribbon profile measures the 1-D</a:t>
            </a:r>
          </a:p>
          <a:p>
            <a:pPr algn="l" lvl="1">
              <a:spcAft>
                <a:spcPts val="600"/>
              </a:spcAft>
            </a:pPr>
            <a:r>
              <a:rPr sz="1150" b="0" i="0">
                <a:solidFill>
                  <a:srgbClr val="5B6B76"/>
                </a:solidFill>
              </a:rPr>
              <a:t>–  spectrum. Integrating out the cross-track wavenumber gives a closed form with</a:t>
            </a:r>
          </a:p>
          <a:p>
            <a:pPr algn="l" lvl="1">
              <a:spcAft>
                <a:spcPts val="600"/>
              </a:spcAft>
            </a:pPr>
            <a:r>
              <a:rPr sz="1150" b="0" i="0">
                <a:solidFill>
                  <a:srgbClr val="5B6B76"/>
                </a:solidFill>
              </a:rPr>
              <a:t>–  NO free parameter — so γ₁ = γ₂ − 1 and the amplitude are both predicted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14303D"/>
                </a:solidFill>
              </a:rPr>
              <a:t>•  Measured in the 1.2–3 m band: 9.45× (+9.8 dB) more power than the per-frame law</a:t>
            </a:r>
          </a:p>
          <a:p>
            <a:pPr algn="l" lvl="1">
              <a:spcAft>
                <a:spcPts val="600"/>
              </a:spcAft>
            </a:pPr>
            <a:r>
              <a:rPr sz="1150" b="0" i="0">
                <a:solidFill>
                  <a:srgbClr val="5B6B76"/>
                </a:solidFill>
              </a:rPr>
              <a:t>–  predicts, fitted γ₁ = 2.29 ± 1.56 against a predicted 1.97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14303D"/>
                </a:solidFill>
              </a:rPr>
              <a:t>•  The slope is unconstrained. ±1.56 spans every plausible exponent — the band is a</a:t>
            </a:r>
          </a:p>
          <a:p>
            <a:pPr algn="l" lvl="1">
              <a:spcAft>
                <a:spcPts val="600"/>
              </a:spcAft>
            </a:pPr>
            <a:r>
              <a:rPr sz="1150" b="0" i="0">
                <a:solidFill>
                  <a:srgbClr val="5B6B76"/>
                </a:solidFill>
              </a:rPr>
              <a:t>–  third of a decade, all a 145 m ribbon can offer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14303D"/>
                </a:solidFill>
              </a:rPr>
              <a:t>•  The amplitude excess is only 1.7× above the ribbon's own noise floor: a per-frame</a:t>
            </a:r>
          </a:p>
          <a:p>
            <a:pPr algn="l" lvl="1">
              <a:spcAft>
                <a:spcPts val="600"/>
              </a:spcAft>
            </a:pPr>
            <a:r>
              <a:rPr sz="1150" b="0" i="0">
                <a:solidFill>
                  <a:srgbClr val="5B6B76"/>
                </a:solidFill>
              </a:rPr>
              <a:t>–  vertical error held across each frame and changing every 0.49 m puts a nearly</a:t>
            </a:r>
          </a:p>
          <a:p>
            <a:pPr algn="l" lvl="1">
              <a:spcAft>
                <a:spcPts val="600"/>
              </a:spcAft>
            </a:pPr>
            <a:r>
              <a:rPr sz="1150" b="0" i="0">
                <a:solidFill>
                  <a:srgbClr val="5B6B76"/>
                </a:solidFill>
              </a:rPr>
              <a:t>–  FLAT spectrum across exactly this band (14× at the robust σ = 21 mm)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14303D"/>
                </a:solidFill>
              </a:rPr>
              <a:t>•  What would settle it is now a number: per-frame vertical placement must reach</a:t>
            </a:r>
          </a:p>
          <a:p>
            <a:pPr algn="l" lvl="1">
              <a:spcAft>
                <a:spcPts val="600"/>
              </a:spcAft>
            </a:pPr>
            <a:r>
              <a:rPr sz="1150" b="0" i="0">
                <a:solidFill>
                  <a:srgbClr val="5B6B76"/>
                </a:solidFill>
              </a:rPr>
              <a:t>–  ≈ 6 mm, from 60 mm — a vertical bundle adjustment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14303D"/>
                </a:solidFill>
              </a:rPr>
              <a:t>•  Supporting: MBES along-track γ₁ = 3.60 ± 0.16 (γ₂ ≈ 4.60) over 2–40 m, far</a:t>
            </a:r>
          </a:p>
          <a:p>
            <a:pPr algn="l" lvl="1">
              <a:spcAft>
                <a:spcPts val="600"/>
              </a:spcAft>
            </a:pPr>
            <a:r>
              <a:rPr sz="1150" b="0" i="0">
                <a:solidFill>
                  <a:srgbClr val="5B6B76"/>
                </a:solidFill>
              </a:rPr>
              <a:t>–  steeper than the per-frame 2.97, with the ribbon's 3.29 BETWEEN them — the shape</a:t>
            </a:r>
          </a:p>
          <a:p>
            <a:pPr algn="l" lvl="1">
              <a:spcAft>
                <a:spcPts val="600"/>
              </a:spcAft>
            </a:pPr>
            <a:r>
              <a:rPr sz="1150" b="0" i="0">
                <a:solidFill>
                  <a:srgbClr val="5B6B76"/>
                </a:solidFill>
              </a:rPr>
              <a:t>–  of a gradual break, at an error bar that makes it a remark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14303D"/>
                </a:solidFill>
              </a:rPr>
              <a:t>•  And the ribbon does not beat the altimeter on vertical accuracy (0.185 m vs</a:t>
            </a:r>
          </a:p>
          <a:p>
            <a:pPr algn="l" lvl="1">
              <a:spcAft>
                <a:spcPts val="600"/>
              </a:spcAft>
            </a:pPr>
            <a:r>
              <a:rPr sz="1150" b="0" i="0">
                <a:solidFill>
                  <a:srgbClr val="5B6B76"/>
                </a:solidFill>
              </a:rPr>
              <a:t>–  0.115 m median |dz| against the MBES). It adds texture, not depth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194560"/>
            <a:ext cx="103327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0" b="1" i="0">
                <a:solidFill>
                  <a:srgbClr val="1A5276"/>
                </a:solidFill>
              </a:rPr>
              <a:t>Act III</a:t>
            </a:r>
          </a:p>
          <a:p>
            <a:pPr algn="ctr">
              <a:spcBef>
                <a:spcPts val="800"/>
              </a:spcBef>
            </a:pPr>
            <a:r>
              <a:rPr sz="2600" b="1" i="0">
                <a:solidFill>
                  <a:srgbClr val="0E6E6E"/>
                </a:solidFill>
              </a:rPr>
              <a:t>The science it made possible</a:t>
            </a:r>
          </a:p>
          <a:p>
            <a:pPr algn="ctr"/>
            <a:r>
              <a:rPr sz="1400" b="0" i="0">
                <a:solidFill>
                  <a:srgbClr val="5B6B76"/>
                </a:solidFill>
              </a:rPr>
              <a:t>HRS1508 — does stereo roughness add anything to acoustics?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A5276"/>
                </a:solidFill>
              </a:rPr>
              <a:t>HRS1508 — the question and the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B6B76"/>
                </a:solidFill>
              </a:rPr>
              <a:t>Does optical roughness carry substrate information that backscatter does not? A binary problem — Substrate A vs Substrate E — on the HRS1508 survey.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2057400"/>
          <a:ext cx="1088136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6272"/>
                <a:gridCol w="8705088"/>
              </a:tblGrid>
              <a:tr h="256032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</a:rPr>
                        <a:t>stream</a:t>
                      </a:r>
                    </a:p>
                  </a:txBody>
                  <a:tcPr marL="54864" marR="54864" marT="18288" marB="18288" anchor="ctr">
                    <a:solidFill>
                      <a:srgbClr val="1A527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</a:rPr>
                        <a:t>what went in</a:t>
                      </a:r>
                    </a:p>
                  </a:txBody>
                  <a:tcPr marL="54864" marR="54864" marT="18288" marB="18288" anchor="ctr">
                    <a:solidFill>
                      <a:srgbClr val="1A5276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4303D"/>
                          </a:solidFill>
                        </a:rPr>
                        <a:t>MBES beams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4303D"/>
                          </a:solidFill>
                        </a:rPr>
                        <a:t>29 027 174 beams, all 512 formed beams/ping, full angular range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4303D"/>
                          </a:solidFill>
                        </a:rPr>
                        <a:t>cells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4303D"/>
                          </a:solidFill>
                        </a:rPr>
                        <a:t>25 m grid → 2318 ARA cells (median 9846 beams/cell, 6 angle bins)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4303D"/>
                          </a:solidFill>
                        </a:rPr>
                        <a:t>optical nav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4303D"/>
                          </a:solidFill>
                        </a:rPr>
                        <a:t>123 394 HabCam frames, positioned by calibrated USBL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4303D"/>
                          </a:solidFill>
                        </a:rPr>
                        <a:t>stereo roughness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4303D"/>
                          </a:solidFill>
                        </a:rPr>
                        <a:t>12 563 per-frame records → γ₂, rugosity, anisotropy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4303D"/>
                          </a:solidFill>
                        </a:rPr>
                        <a:t>analysis set</a:t>
                      </a:r>
                    </a:p>
                  </a:txBody>
                  <a:tcPr marL="54864" marR="54864" marT="18288" marB="18288" anchor="ctr">
                    <a:solidFill>
                      <a:srgbClr val="EAF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4303D"/>
                          </a:solidFill>
                        </a:rPr>
                        <a:t>217 cells with a majority single-substrate label and ≥ 3 roughness frames</a:t>
                      </a:r>
                    </a:p>
                  </a:txBody>
                  <a:tcPr marL="54864" marR="54864" marT="18288" marB="18288" anchor="ctr">
                    <a:solidFill>
                      <a:srgbClr val="EAF6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3794760"/>
            <a:ext cx="1097280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4303D"/>
                </a:solidFill>
              </a:rPr>
              <a:t>•  7 ARA descriptors (6 × 10° angle bins + slope), per-line normalised so the</a:t>
            </a:r>
          </a:p>
          <a:p>
            <a:pPr algn="l" lvl="1">
              <a:spcAft>
                <a:spcPts val="600"/>
              </a:spcAft>
            </a:pPr>
            <a:r>
              <a:rPr sz="1200" b="0" i="0">
                <a:solidFill>
                  <a:srgbClr val="5B6B76"/>
                </a:solidFill>
              </a:rPr>
              <a:t>–  unknown source level cancels, plus 3 roughness features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4303D"/>
                </a:solidFill>
              </a:rPr>
              <a:t>•  Random forest, 5-fold spatially blocked CV on 200 m blocks (33 blocks); folds</a:t>
            </a:r>
          </a:p>
          <a:p>
            <a:pPr algn="l" lvl="1">
              <a:spcAft>
                <a:spcPts val="600"/>
              </a:spcAft>
            </a:pPr>
            <a:r>
              <a:rPr sz="1200" b="0" i="0">
                <a:solidFill>
                  <a:srgbClr val="5B6B76"/>
                </a:solidFill>
              </a:rPr>
              <a:t>–  frozen once and reused, so every comparison is genuinely paired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A5276"/>
                </a:solidFill>
              </a:rPr>
              <a:t>The 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457200"/>
            <a:ext cx="1737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 i="0">
                <a:solidFill>
                  <a:srgbClr val="2E86C1"/>
                </a:solidFill>
              </a:rPr>
              <a:t>HEADLINE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371600"/>
          <a:ext cx="1088136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63440"/>
                <a:gridCol w="1554480"/>
                <a:gridCol w="1554480"/>
                <a:gridCol w="3108960"/>
              </a:tblGrid>
              <a:tr h="256032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 marL="54864" marR="54864" marT="18288" marB="18288" anchor="ctr">
                    <a:solidFill>
                      <a:srgbClr val="1A527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</a:rPr>
                        <a:t>accuracy</a:t>
                      </a:r>
                    </a:p>
                  </a:txBody>
                  <a:tcPr marL="54864" marR="54864" marT="18288" marB="18288" anchor="ctr">
                    <a:solidFill>
                      <a:srgbClr val="1A527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</a:rPr>
                        <a:t>gain vs ARA</a:t>
                      </a:r>
                    </a:p>
                  </a:txBody>
                  <a:tcPr marL="54864" marR="54864" marT="18288" marB="18288" anchor="ctr">
                    <a:solidFill>
                      <a:srgbClr val="1A527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</a:rPr>
                        <a:t>95 % CI</a:t>
                      </a:r>
                    </a:p>
                  </a:txBody>
                  <a:tcPr marL="54864" marR="54864" marT="18288" marB="18288" anchor="ctr">
                    <a:solidFill>
                      <a:srgbClr val="1A5276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4303D"/>
                          </a:solidFill>
                        </a:rPr>
                        <a:t>ARA only (baseline)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4303D"/>
                          </a:solidFill>
                        </a:rPr>
                        <a:t>0.659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4303D"/>
                          </a:solidFill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4303D"/>
                          </a:solidFill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4303D"/>
                          </a:solidFill>
                        </a:rPr>
                        <a:t>ARA + γ₂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4303D"/>
                          </a:solidFill>
                        </a:rPr>
                        <a:t>0.691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4303D"/>
                          </a:solidFill>
                        </a:rPr>
                        <a:t>+0.032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4303D"/>
                          </a:solidFill>
                        </a:rPr>
                        <a:t>−0.005 … 0.072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4303D"/>
                          </a:solidFill>
                        </a:rPr>
                        <a:t>ARA + γ₂ + rugosity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4303D"/>
                          </a:solidFill>
                        </a:rPr>
                        <a:t>0.714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4303D"/>
                          </a:solidFill>
                        </a:rPr>
                        <a:t>+0.055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4303D"/>
                          </a:solidFill>
                        </a:rPr>
                        <a:t>0.005 … 0.108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4303D"/>
                          </a:solidFill>
                        </a:rPr>
                        <a:t>ARA + all roughness</a:t>
                      </a:r>
                    </a:p>
                  </a:txBody>
                  <a:tcPr marL="54864" marR="54864" marT="18288" marB="18288" anchor="ctr">
                    <a:solidFill>
                      <a:srgbClr val="EAF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4303D"/>
                          </a:solidFill>
                        </a:rPr>
                        <a:t>0.756</a:t>
                      </a:r>
                    </a:p>
                  </a:txBody>
                  <a:tcPr marL="54864" marR="54864" marT="18288" marB="18288" anchor="ctr">
                    <a:solidFill>
                      <a:srgbClr val="EAF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4303D"/>
                          </a:solidFill>
                        </a:rPr>
                        <a:t>+0.097</a:t>
                      </a:r>
                    </a:p>
                  </a:txBody>
                  <a:tcPr marL="54864" marR="54864" marT="18288" marB="18288" anchor="ctr">
                    <a:solidFill>
                      <a:srgbClr val="EAF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4303D"/>
                          </a:solidFill>
                        </a:rPr>
                        <a:t>0.039 … 0.155</a:t>
                      </a:r>
                    </a:p>
                  </a:txBody>
                  <a:tcPr marL="54864" marR="54864" marT="18288" marB="18288" anchor="ctr">
                    <a:solidFill>
                      <a:srgbClr val="EAF6FF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4303D"/>
                          </a:solidFill>
                        </a:rPr>
                        <a:t>roughness only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4303D"/>
                          </a:solidFill>
                        </a:rPr>
                        <a:t>0.756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4303D"/>
                          </a:solidFill>
                        </a:rPr>
                        <a:t>+0.097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4303D"/>
                          </a:solidFill>
                        </a:rPr>
                        <a:t>0.014 … 0.183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3108960"/>
            <a:ext cx="109728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4303D"/>
                </a:solidFill>
              </a:rPr>
              <a:t>•  Block-permutation p &lt; 0.001; macro-F₁ 0.597 → 0.715; minority-class (Substrate E)</a:t>
            </a:r>
          </a:p>
          <a:p>
            <a:pPr algn="l" lvl="1">
              <a:spcAft>
                <a:spcPts val="600"/>
              </a:spcAft>
            </a:pPr>
            <a:r>
              <a:rPr sz="1200" b="0" i="0">
                <a:solidFill>
                  <a:srgbClr val="5B6B76"/>
                </a:solidFill>
              </a:rPr>
              <a:t>–  recall 0.43 → 0.60 — the gain is where it matters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4303D"/>
                </a:solidFill>
              </a:rPr>
              <a:t>•  γ₂ ranks FIRST of all ten features (importance 0.215, above every backscatter</a:t>
            </a:r>
          </a:p>
          <a:p>
            <a:pPr algn="l" lvl="1">
              <a:spcAft>
                <a:spcPts val="600"/>
              </a:spcAft>
            </a:pPr>
            <a:r>
              <a:rPr sz="1200" b="0" i="0">
                <a:solidFill>
                  <a:srgbClr val="5B6B76"/>
                </a:solidFill>
              </a:rPr>
              <a:t>–  bin — the best of those is 0.175)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4303D"/>
                </a:solidFill>
              </a:rPr>
              <a:t>•  Modality ladder: backscatter alone 0.70 · + bathymetric slope correction 0.66 ·</a:t>
            </a:r>
          </a:p>
          <a:p>
            <a:pPr algn="l" lvl="1">
              <a:spcAft>
                <a:spcPts val="600"/>
              </a:spcAft>
            </a:pPr>
            <a:r>
              <a:rPr sz="1200" b="0" i="0">
                <a:solidFill>
                  <a:srgbClr val="5B6B76"/>
                </a:solidFill>
              </a:rPr>
              <a:t>–  + γ₂ 0.69 · + all roughness 0.76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4303D"/>
                </a:solidFill>
              </a:rPr>
              <a:t>•  Holds across scale: at a 15 m cell the same ladder runs 0.74 → 0.83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4303D"/>
                </a:solidFill>
              </a:rPr>
              <a:t>•  Two-tier map: 881 of 2318 cells (38 %) have both modalities; adding roughness</a:t>
            </a:r>
          </a:p>
          <a:p>
            <a:pPr algn="l" lvl="1">
              <a:spcAft>
                <a:spcPts val="600"/>
              </a:spcAft>
            </a:pPr>
            <a:r>
              <a:rPr sz="1200" b="0" i="0">
                <a:solidFill>
                  <a:srgbClr val="5B6B76"/>
                </a:solidFill>
              </a:rPr>
              <a:t>–  flips 14.5 % of the classified swath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A5276"/>
                </a:solidFill>
              </a:rPr>
              <a:t>Why you can believe it — and what it does not say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14303D"/>
                </a:solidFill>
              </a:rPr>
              <a:t>•  One run, one manifest. Two earlier fusion results (0.769→0.864 on 221 cells,</a:t>
            </a:r>
          </a:p>
          <a:p>
            <a:pPr algn="l" lvl="1">
              <a:spcAft>
                <a:spcPts val="600"/>
              </a:spcAft>
            </a:pPr>
            <a:r>
              <a:rPr sz="1150" b="0" i="0">
                <a:solidFill>
                  <a:srgbClr val="5B6B76"/>
                </a:solidFill>
              </a:rPr>
              <a:t>–  0.761→0.820 on 987 cells) differed in BOTH the beam table and the cell subset —</a:t>
            </a:r>
          </a:p>
          <a:p>
            <a:pPr algn="l" lvl="1">
              <a:spcAft>
                <a:spcPts val="600"/>
              </a:spcAft>
            </a:pPr>
            <a:r>
              <a:rPr sz="1150" b="0" i="0">
                <a:solidFill>
                  <a:srgbClr val="5B6B76"/>
                </a:solidFill>
              </a:rPr>
              <a:t>–  invisible to the author, obvious to a referee. The fix was not to pick a number,</a:t>
            </a:r>
          </a:p>
          <a:p>
            <a:pPr algn="l" lvl="1">
              <a:spcAft>
                <a:spcPts val="600"/>
              </a:spcAft>
            </a:pPr>
            <a:r>
              <a:rPr sz="1150" b="0" i="0">
                <a:solidFill>
                  <a:srgbClr val="5B6B76"/>
                </a:solidFill>
              </a:rPr>
              <a:t>–  it was to make two impossible: one frozen manifest.yml, one library, one beam</a:t>
            </a:r>
          </a:p>
          <a:p>
            <a:pPr algn="l" lvl="1">
              <a:spcAft>
                <a:spcPts val="600"/>
              </a:spcAft>
            </a:pPr>
            <a:r>
              <a:rPr sz="1150" b="0" i="0">
                <a:solidFill>
                  <a:srgbClr val="5B6B76"/>
                </a:solidFill>
              </a:rPr>
              <a:t>–  table, one fold assignment, every input hashed into a lock file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14303D"/>
                </a:solidFill>
              </a:rPr>
              <a:t>•  Calibration stress test: inject per-line source-level error up to 5 dB (against a</a:t>
            </a:r>
          </a:p>
          <a:p>
            <a:pPr algn="l" lvl="1">
              <a:spcAft>
                <a:spcPts val="600"/>
              </a:spcAft>
            </a:pPr>
            <a:r>
              <a:rPr sz="1150" b="0" i="0">
                <a:solidFill>
                  <a:srgbClr val="5B6B76"/>
                </a:solidFill>
              </a:rPr>
              <a:t>–  MEASURED per-line spread of 4.59 dB over 17 lines). The normalised pipeline moves</a:t>
            </a:r>
          </a:p>
          <a:p>
            <a:pPr algn="l" lvl="1">
              <a:spcAft>
                <a:spcPts val="600"/>
              </a:spcAft>
            </a:pPr>
            <a:r>
              <a:rPr sz="1150" b="0" i="0">
                <a:solidFill>
                  <a:srgbClr val="5B6B76"/>
                </a:solidFill>
              </a:rPr>
              <a:t>–  0.000; without per-line normalisation it drifts 0.018; strip the shape too and the</a:t>
            </a:r>
          </a:p>
          <a:p>
            <a:pPr algn="l" lvl="1">
              <a:spcAft>
                <a:spcPts val="600"/>
              </a:spcAft>
            </a:pPr>
            <a:r>
              <a:rPr sz="1150" b="0" i="0">
                <a:solidFill>
                  <a:srgbClr val="5B6B76"/>
                </a:solidFill>
              </a:rPr>
              <a:t>–  level-only classifier falls to 0.58 and drifts 0.028. The result does not depend</a:t>
            </a:r>
          </a:p>
          <a:p>
            <a:pPr algn="l" lvl="1">
              <a:spcAft>
                <a:spcPts val="600"/>
              </a:spcAft>
            </a:pPr>
            <a:r>
              <a:rPr sz="1150" b="0" i="0">
                <a:solidFill>
                  <a:srgbClr val="5B6B76"/>
                </a:solidFill>
              </a:rPr>
              <a:t>–  on absolute calibration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14303D"/>
                </a:solidFill>
              </a:rPr>
              <a:t>•  The image classifier survives honest CV: 0.942 stratified → 0.939 on 200 m</a:t>
            </a:r>
          </a:p>
          <a:p>
            <a:pPr algn="l" lvl="1">
              <a:spcAft>
                <a:spcPts val="600"/>
              </a:spcAft>
            </a:pPr>
            <a:r>
              <a:rPr sz="1150" b="0" i="0">
                <a:solidFill>
                  <a:srgbClr val="5B6B76"/>
                </a:solidFill>
              </a:rPr>
              <a:t>–  spatial blocks. Optimism 0.002 — it was not leaking geography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14303D"/>
                </a:solidFill>
              </a:rPr>
              <a:t>•  LIMITS, stated not buried — the stereo coverage gate is NOT label-neutral:</a:t>
            </a:r>
          </a:p>
          <a:p>
            <a:pPr algn="l" lvl="1">
              <a:spcAft>
                <a:spcPts val="600"/>
              </a:spcAft>
            </a:pPr>
            <a:r>
              <a:rPr sz="1150" b="0" i="0">
                <a:solidFill>
                  <a:srgbClr val="5B6B76"/>
                </a:solidFill>
              </a:rPr>
              <a:t>–  2.7 % of Substrate A cells rejected against 12.9 % of Substrate E (Fisher OR 5.3,</a:t>
            </a:r>
          </a:p>
          <a:p>
            <a:pPr algn="l" lvl="1">
              <a:spcAft>
                <a:spcPts val="600"/>
              </a:spcAft>
            </a:pPr>
            <a:r>
              <a:rPr sz="1150" b="0" i="0">
                <a:solidFill>
                  <a:srgbClr val="5B6B76"/>
                </a:solidFill>
              </a:rPr>
              <a:t>–  p ≈ 2×10⁻²⁵). That is a result about turbidity over fine sediment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14303D"/>
                </a:solidFill>
              </a:rPr>
              <a:t>•  w₂ and rms height are never model inputs — amplitude is not recoverable from</a:t>
            </a:r>
          </a:p>
          <a:p>
            <a:pPr algn="l" lvl="1">
              <a:spcAft>
                <a:spcPts val="600"/>
              </a:spcAft>
            </a:pPr>
            <a:r>
              <a:rPr sz="1150" b="0" i="0">
                <a:solidFill>
                  <a:srgbClr val="5B6B76"/>
                </a:solidFill>
              </a:rPr>
              <a:t>–  this stereo; and fit_r2 / valid_fraction / altitude_mm / matcher are absent from</a:t>
            </a:r>
          </a:p>
          <a:p>
            <a:pPr algn="l" lvl="1">
              <a:spcAft>
                <a:spcPts val="600"/>
              </a:spcAft>
            </a:pPr>
            <a:r>
              <a:rPr sz="1150" b="0" i="0">
                <a:solidFill>
                  <a:srgbClr val="5B6B76"/>
                </a:solidFill>
              </a:rPr>
              <a:t>–  the committed CSVs, so spectrum quality cannot yet be filtered on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A5276"/>
                </a:solidFill>
              </a:rPr>
              <a:t>Is this a unique tool?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4303D"/>
                </a:solidFill>
              </a:rPr>
              <a:t>•  Yes — and the differentiator has shifted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4303D"/>
                </a:solidFill>
              </a:rPr>
              <a:t>•  It started as an INTEGRATION argument: most workflows are siloed — acoustics in</a:t>
            </a:r>
          </a:p>
          <a:p>
            <a:pPr algn="l" lvl="1">
              <a:spcAft>
                <a:spcPts val="600"/>
              </a:spcAft>
            </a:pPr>
            <a:r>
              <a:rPr sz="1300" b="0" i="0">
                <a:solidFill>
                  <a:srgbClr val="5B6B76"/>
                </a:solidFill>
              </a:rPr>
              <a:t>–  one suite, image annotation in another, video review in a third, GIS somewhere</a:t>
            </a:r>
          </a:p>
          <a:p>
            <a:pPr algn="l" lvl="1">
              <a:spcAft>
                <a:spcPts val="600"/>
              </a:spcAft>
            </a:pPr>
            <a:r>
              <a:rPr sz="1300" b="0" i="0">
                <a:solidFill>
                  <a:srgbClr val="5B6B76"/>
                </a:solidFill>
              </a:rPr>
              <a:t>–  else. GroundTruther puts them on one QGIS map, free and open source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4303D"/>
                </a:solidFill>
              </a:rPr>
              <a:t>•  It is now also a MEASUREMENT argument: no other GIS-native tool turns the</a:t>
            </a:r>
          </a:p>
          <a:p>
            <a:pPr algn="l" lvl="1">
              <a:spcAft>
                <a:spcPts val="600"/>
              </a:spcAft>
            </a:pPr>
            <a:r>
              <a:rPr sz="1300" b="0" i="0">
                <a:solidFill>
                  <a:srgbClr val="5B6B76"/>
                </a:solidFill>
              </a:rPr>
              <a:t>–  survey's own stereo imagery into metric seabed geometry — micro-DEMs, spectral</a:t>
            </a:r>
          </a:p>
          <a:p>
            <a:pPr algn="l" lvl="1">
              <a:spcAft>
                <a:spcPts val="600"/>
              </a:spcAft>
            </a:pPr>
            <a:r>
              <a:rPr sz="1300" b="0" i="0">
                <a:solidFill>
                  <a:srgbClr val="5B6B76"/>
                </a:solidFill>
              </a:rPr>
              <a:t>–  roughness, georeferenced mosaics, a millimetre ribbon — and puts it beside the</a:t>
            </a:r>
          </a:p>
          <a:p>
            <a:pPr algn="l" lvl="1">
              <a:spcAft>
                <a:spcPts val="600"/>
              </a:spcAft>
            </a:pPr>
            <a:r>
              <a:rPr sz="1300" b="0" i="0">
                <a:solidFill>
                  <a:srgbClr val="5B6B76"/>
                </a:solidFill>
              </a:rPr>
              <a:t>–  acoustics in the same project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4303D"/>
                </a:solidFill>
              </a:rPr>
              <a:t>•  Heavy work stays server-side (FastGIS for GRASS, a GPU service for stereo);</a:t>
            </a:r>
          </a:p>
          <a:p>
            <a:pPr algn="l" lvl="1">
              <a:spcAft>
                <a:spcPts val="600"/>
              </a:spcAft>
            </a:pPr>
            <a:r>
              <a:rPr sz="1300" b="0" i="0">
                <a:solidFill>
                  <a:srgbClr val="5B6B76"/>
                </a:solidFill>
              </a:rPr>
              <a:t>–  the plugin stays a thin, scriptable client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4303D"/>
                </a:solidFill>
              </a:rPr>
              <a:t>•  Open formats throughout (Parquet, GeoJSON, GeoTIFF, KMZ, CSV/.log)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4303D"/>
                </a:solidFill>
              </a:rPr>
              <a:t>•  Not a replacement for specialist acoustic suites — a connective, ground-truthing</a:t>
            </a:r>
          </a:p>
          <a:p>
            <a:pPr algn="l" lvl="1">
              <a:spcAft>
                <a:spcPts val="600"/>
              </a:spcAft>
            </a:pPr>
            <a:r>
              <a:rPr sz="1300" b="0" i="0">
                <a:solidFill>
                  <a:srgbClr val="5B6B76"/>
                </a:solidFill>
              </a:rPr>
              <a:t>–  layer, which now measures something of its own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A5276"/>
                </a:solidFill>
              </a:rPr>
              <a:t>What's next?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E6E6E"/>
                </a:solidFill>
              </a:rPr>
              <a:t>Committed, with a number attached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4303D"/>
                </a:solidFill>
              </a:rPr>
              <a:t>•  Vertical bundle adjustment for the ribbon: per-frame placement 60 mm → ≈ 6 mm. That single factor of ten converts the scale-gap result from suggestive to publishable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4303D"/>
                </a:solidFill>
              </a:rPr>
              <a:t>•  Persist the roughness QC fields (fit_r2, valid_fraction, altitude_mm, matcher) so spectrum quality can be reported and filtered on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4303D"/>
                </a:solidFill>
              </a:rPr>
              <a:t>•  Resolve mount handedness against a target of known handedness — the one link in the geometry chain still untested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155448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E6E6E"/>
                </a:solidFill>
              </a:rPr>
              <a:t>Open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4303D"/>
                </a:solidFill>
              </a:rPr>
              <a:t>•  ML-assisted annotation (review instead of draw)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4303D"/>
                </a:solidFill>
              </a:rPr>
              <a:t>•  A ribbon dock in QGIS, once people have used a ribbon in anger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4303D"/>
                </a:solidFill>
              </a:rPr>
              <a:t>•  Multi-line ribbons and cross-line closure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4303D"/>
                </a:solidFill>
              </a:rPr>
              <a:t>•  Reproducible 'analysis as a saved session'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4303D"/>
                </a:solidFill>
              </a:rPr>
              <a:t>•  Multi-user / shared cloud sessions; signed report bundles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4303D"/>
                </a:solidFill>
              </a:rPr>
              <a:t>•  More survey-log adapters; CI toward a turnkey installer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A5276"/>
                </a:solidFill>
              </a:rPr>
              <a:t>Would you use it?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E6E6E"/>
                </a:solidFill>
              </a:rPr>
              <a:t>Who it's for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4303D"/>
                </a:solidFill>
              </a:rPr>
              <a:t>•  Benthic ecologists &amp; seabed-mapping teams doing ground-truthing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4303D"/>
                </a:solidFill>
              </a:rPr>
              <a:t>•  Anyone who wants acoustics, imagery and video on the same map without stitching five tools together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4303D"/>
                </a:solidFill>
              </a:rPr>
              <a:t>•  New: anyone who needs quantitative seabed geometry from imagery they already have — without building a photogrammetry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155448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E6E6E"/>
                </a:solidFill>
              </a:rPr>
              <a:t>Honest take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4303D"/>
                </a:solidFill>
              </a:rPr>
              <a:t>•  Purely acoustic processing → keep your specialist suite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4303D"/>
                </a:solidFill>
              </a:rPr>
              <a:t>•  Sub-metre optical geometry at survey scale with full bundle adjustment → this is not a photogrammetry suite (yet)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4303D"/>
                </a:solidFill>
              </a:rPr>
              <a:t>•  Interpretation + ground-truth + reporting across data types, inside GIS, open and scriptable → yes, and the optical side now measures as well as displays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A5276"/>
                </a:solidFill>
              </a:rPr>
              <a:t>Need help setting it up?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4303D"/>
                </a:solidFill>
              </a:rPr>
              <a:t>•  Requirements: QGIS 4.0+ (Qt 6), the bundled .venv, a FastGIS API key for GRASS</a:t>
            </a:r>
          </a:p>
          <a:p>
            <a:pPr algn="l" lvl="1">
              <a:spcAft>
                <a:spcPts val="600"/>
              </a:spcAft>
            </a:pPr>
            <a:r>
              <a:rPr sz="1500" b="0" i="0">
                <a:solidFill>
                  <a:srgbClr val="5B6B76"/>
                </a:solidFill>
              </a:rPr>
              <a:t>–  and roughness (or a direct URL if you run the GPU service yourself)</a:t>
            </a:r>
          </a:p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4303D"/>
                </a:solidFill>
              </a:rPr>
              <a:t>•  Install: symlink the repo into your QGIS profile, enable, point Settings at your</a:t>
            </a:r>
          </a:p>
          <a:p>
            <a:pPr algn="l" lvl="1">
              <a:spcAft>
                <a:spcPts val="600"/>
              </a:spcAft>
            </a:pPr>
            <a:r>
              <a:rPr sz="1500" b="0" i="0">
                <a:solidFill>
                  <a:srgbClr val="5B6B76"/>
                </a:solidFill>
              </a:rPr>
              <a:t>–  data — invalid keys now disable only their own feature</a:t>
            </a:r>
          </a:p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4303D"/>
                </a:solidFill>
              </a:rPr>
              <a:t>•  Try it: the Zenodo 'groundtruther test dataset' (CC-BY-4.0)</a:t>
            </a:r>
          </a:p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4303D"/>
                </a:solidFill>
              </a:rPr>
              <a:t>•  Repo &amp; issues: github.com/epifanio/groundtruther</a:t>
            </a:r>
          </a:p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4303D"/>
                </a:solidFill>
              </a:rPr>
              <a:t>•  Docs: epifanio.github.io/groundtruther · dev notes in docs/grass_fastgis.md</a:t>
            </a:r>
          </a:p>
          <a:p>
            <a:pPr algn="l" lvl="1">
              <a:spcAft>
                <a:spcPts val="600"/>
              </a:spcAft>
            </a:pPr>
            <a:r>
              <a:rPr sz="1500" b="0" i="0">
                <a:solidFill>
                  <a:srgbClr val="5B6B76"/>
                </a:solidFill>
              </a:rPr>
              <a:t>–  and docs/photogrammetric_ribbon.md</a:t>
            </a:r>
          </a:p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4303D"/>
                </a:solidFill>
              </a:rPr>
              <a:t>•  Analysis workflow: PDAL_MBIO/paper — frozen manifest, notebooks 00→09</a:t>
            </a:r>
          </a:p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4303D"/>
                </a:solidFill>
              </a:rPr>
              <a:t>•  Happy to walk you through install, config, or your own dataset.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103120"/>
            <a:ext cx="10332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1A5276"/>
                </a:solidFill>
              </a:rPr>
              <a:t>Thank you</a:t>
            </a:r>
          </a:p>
          <a:p>
            <a:pPr algn="ctr">
              <a:spcBef>
                <a:spcPts val="800"/>
              </a:spcBef>
            </a:pPr>
            <a:r>
              <a:rPr sz="2400" b="1" i="0">
                <a:solidFill>
                  <a:srgbClr val="0E6E6E"/>
                </a:solidFill>
              </a:rPr>
              <a:t>GroundTruther · v0.4 · QGIS 4 / Qt 6</a:t>
            </a:r>
          </a:p>
          <a:p>
            <a:pPr algn="ctr"/>
            <a:r>
              <a:rPr sz="1500" b="0" i="0">
                <a:solidFill>
                  <a:srgbClr val="5B6B76"/>
                </a:solidFill>
              </a:rPr>
              <a:t>MBES · imagery · video · stereo geometry · roughness · mosaics · ribbon · report</a:t>
            </a:r>
          </a:p>
          <a:p>
            <a:pPr algn="ctr"/>
            <a:r>
              <a:rPr sz="1500" b="0" i="0">
                <a:solidFill>
                  <a:srgbClr val="5B6B76"/>
                </a:solidFill>
              </a:rPr>
              <a:t>github.com/epifanio/groundtruther · epifanio.github.io/groundtruther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