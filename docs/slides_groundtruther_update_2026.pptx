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A5276"/>
                </a:solidFill>
              </a:rPr>
              <a:t>GroundTruther</a:t>
            </a:r>
          </a:p>
          <a:p>
            <a:pPr algn="ctr">
              <a:spcBef>
                <a:spcPts val="800"/>
              </a:spcBef>
            </a:pPr>
            <a:r>
              <a:rPr sz="2400" b="1" i="0">
                <a:solidFill>
                  <a:srgbClr val="0E6E6E"/>
                </a:solidFill>
              </a:rPr>
              <a:t>What changed since the paper</a:t>
            </a:r>
          </a:p>
          <a:p>
            <a:pPr algn="ctr"/>
            <a:r>
              <a:rPr sz="1500" b="0" i="0">
                <a:solidFill>
                  <a:srgbClr val="5B6B76"/>
                </a:solidFill>
              </a:rPr>
              <a:t>A QGIS plugin for seafloor characterization — multibeam acoustics,</a:t>
            </a:r>
          </a:p>
          <a:p>
            <a:pPr algn="ctr"/>
            <a:r>
              <a:rPr sz="1500" b="0" i="0">
                <a:solidFill>
                  <a:srgbClr val="5B6B76"/>
                </a:solidFill>
              </a:rPr>
              <a:t>seafloor imagery &amp; survey video, together on one map.</a:t>
            </a:r>
          </a:p>
          <a:p>
            <a:pPr algn="ctr"/>
            <a:r>
              <a:rPr sz="1500" b="0" i="0">
                <a:solidFill>
                  <a:srgbClr val="5B6B76"/>
                </a:solidFill>
              </a:rPr>
              <a:t/>
            </a:r>
          </a:p>
          <a:p>
            <a:pPr algn="ctr"/>
            <a:r>
              <a:rPr sz="1500" b="0" i="0">
                <a:solidFill>
                  <a:srgbClr val="5B6B76"/>
                </a:solidFill>
              </a:rPr>
              <a:t>Development update · 2026 · v0.4 · QGIS 4 / Qt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Recap — 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Runs inside QGIS as a dock-based toolset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Joins three data worlds on one map: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MBES bathymetry + backscatter (ARA)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Seafloor imagery (HabCam-style stills)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Survey video with per-frame GPS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Ground-truth annotation → statistics → KMZ / HTML reports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Remote GRASS GIS service for geoprocessing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GroundTruther docked in QGIS (overview)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Paper release → first public, working tool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This winter (≈ March 2026) → major modernization cycle begins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Goals: QGIS 4 / Qt 6, a maintainable codebase, video support,</a:t>
            </a:r>
          </a:p>
          <a:p>
            <a:pPr algn="l" lvl="1">
              <a:spcAft>
                <a:spcPts val="600"/>
              </a:spcAft>
            </a:pPr>
            <a:r>
              <a:rPr sz="1500" b="0" i="0">
                <a:solidFill>
                  <a:srgbClr val="5B6B76"/>
                </a:solidFill>
              </a:rPr>
              <a:t>–  and a modern authenticated GRASS API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This deck = the highlights: platform · UI/UX · install · refactor · API · features · fixes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QGIS 4 / Qt 6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Full port to QGIS 4.0+ / Qt 6 (system Python 3.14)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Qt 6 API rework: scoped enums, exec_ → exec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Fixed Qt 6 dock-walk crashes (register docks with main window)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OpenGL 3-D viewer made Qt 6-safe (PyOpenGL context)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Wayland: launch QT_QPA_PLATFORM=xcb for floating docks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qgisMinimumVersion = 4.0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plugin running in QGIS 4 (toolbar + docks)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New UI layout &amp; project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GUI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Each tool an independent dockable / floatable panel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'Restore default layout' + reliable save/restore of docked layout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Session persistence (new): a groundtruther_project file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Restores image index, zoom, query selection, dock layout, map-sync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Written on QGIS project save · loaded at start → resume where you left 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custom dock layout + Settings (session file field)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UI settings &amp;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GUI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Single YAML config, validated by a pydantic v2 model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Clear errors instead of obscure runtime failures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Dialog for image / MBES / video / export / GRASS paths &amp; keys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CRS-aware: zoom-to uses map scale (1:N) — same in metric and geographic CRSs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Settings dialog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Streamlined 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QGIS 4 runs on system Python (PEP-668, no pip) — handled cleanly:</a:t>
            </a:r>
          </a:p>
          <a:p>
            <a:pPr algn="l" lvl="1">
              <a:spcAft>
                <a:spcPts val="600"/>
              </a:spcAft>
            </a:pPr>
            <a:r>
              <a:rPr sz="1500" b="0" i="0">
                <a:solidFill>
                  <a:srgbClr val="5B6B76"/>
                </a:solidFill>
              </a:rPr>
              <a:t>–  Plugin deps live in a .venv beside the source</a:t>
            </a:r>
          </a:p>
          <a:p>
            <a:pPr algn="l" lvl="1">
              <a:spcAft>
                <a:spcPts val="600"/>
              </a:spcAft>
            </a:pPr>
            <a:r>
              <a:rPr sz="1500" b="0" i="0">
                <a:solidFill>
                  <a:srgbClr val="5B6B76"/>
                </a:solidFill>
              </a:rPr>
              <a:t>–  _bootstrap_venv() appends it to sys.path at load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Install = symlink the repo into the QGIS profile + enable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Fixed missing runtime deps &amp; venv bootstrap → one-step setup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Video decode via PyAV (bundled FFmpeg) — no system-codec hunt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Code refactoring — modular &amp; maintainable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Thin orchestrator + focused mixins — dockwidget ≈ 240 lines:</a:t>
            </a:r>
          </a:p>
          <a:p>
            <a:pPr algn="l" lvl="1">
              <a:spcAft>
                <a:spcPts val="600"/>
              </a:spcAft>
            </a:pPr>
            <a:r>
              <a:rPr sz="1500" b="0" i="0">
                <a:solidFill>
                  <a:srgbClr val="5B6B76"/>
                </a:solidFill>
              </a:rPr>
              <a:t>–  image browser · video browser · video annotation · GRASS · report · settings · layout · session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Stateless, testable core (gt/) — no Qt, unit-tested:</a:t>
            </a:r>
          </a:p>
          <a:p>
            <a:pPr algn="l" lvl="1">
              <a:spcAft>
                <a:spcPts val="600"/>
              </a:spcAft>
            </a:pPr>
            <a:r>
              <a:rPr sz="1500" b="0" i="0">
                <a:solidFill>
                  <a:srgbClr val="5B6B76"/>
                </a:solidFill>
              </a:rPr>
              <a:t>–  grass_api · image_manager · video_manager · task_runner</a:t>
            </a:r>
          </a:p>
          <a:p>
            <a:pPr algn="l" lvl="1">
              <a:spcAft>
                <a:spcPts val="600"/>
              </a:spcAft>
            </a:pPr>
            <a:r>
              <a:rPr sz="1500" b="0" i="0">
                <a:solidFill>
                  <a:srgbClr val="5B6B76"/>
                </a:solidFill>
              </a:rPr>
              <a:t>–  NEW: mbes_fields · video_reader · session_state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A growing pytest suite (unit / GUI-offscreen / integration)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New FastGIS API (GRASS backend)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Legacy flat, unauthenticated endpoint → api.fastgis.eu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Authenticated (X-API-Key), built on an environment model (env_id)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Schema-driven module dialogs — any GRASS module; async via QgsTask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GRASS Tools is now an undockable QGIS panel: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module picker · push rasters back to QGIS · show/hide computational region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GRASS Tools panel + a schema-driven module dialog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Feature — MBES query 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Draw a sampling unit (ellipse / rectangle) on the soundings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ARA scatterplot · 3-D surface · histograms · stats · in-shape images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Multi-level backscatter (new): auto-detects every BSWG-2015 level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raw → RL → TL → area → AVG, back-compatible with the legacy format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Beam-side filtering (Raw / Port / Starboard / Fold) fixed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query builder: sampling ellipse + ARA scatterplot / 3-D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Feature — video player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Frame-accurate player docked in QGIS, driven from the metadata track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Interlaced support (new): PyAV + yadif — fixes FFmpeg-8 black frames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Geo-link to map: canvas follows the frame at a fixed, CRS-independent scale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GPS track as a persistent GeoJSON layer — no scratch warning, auto-regenerated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video player docked + geo-linked map (track + marker)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Video &amp; image annotation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Image annotation: bounding boxes + species labels on stills;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confidence-threshold filter; detector output overlay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Video annotation: per-frame boxes, single-click draw → label → save;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'Add new box' pauses on draw and releases on resume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Shared label pool; edits persisted to CSV (frame_index ↔ bboxes / species / conf.)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Annotations stay geolinked — every box ties back to a map 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annotation editor: a frame/image with labelled boxes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Feature —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One click sends query products to the report builder: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ARA · 3-D · histogram · stats · sampling unit · image gallery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Output to KMZ (geo-balloon) and a modern templated HTML report (Jinja2):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card layout, uniform thumbnails, click-to-zoom lightbox</a:t>
            </a:r>
          </a:p>
          <a:p>
            <a:pPr algn="l" lvl="1">
              <a:spcAft>
                <a:spcPts val="600"/>
              </a:spcAft>
            </a:pPr>
            <a:r>
              <a:rPr sz="1300" b="0" i="0">
                <a:solidFill>
                  <a:srgbClr val="5B6B76"/>
                </a:solidFill>
              </a:rPr>
              <a:t>–  browsable gallery of the in-sample seafloor images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Stats as a real HTML table · title + location summary · PDF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generated HTML report (gallery + lightbox + stats table)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Bug-fix roundup (selected)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3-D WGL viewer blank on Qt 6 → fixed (PyOpenGL context)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ARA beam radios (L / R / Fold) had no effect → fixed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KMZ save crashed on un-generated products → guarded + de-duplicated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Docks / video player came back undocked → restoreState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Geo-link marker moved but map didn't follow → throttle fix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Zoom was projection-dependent → map scale (1:N), CRS-independent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Interlaced video → black frames → PyAV / yadif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Stale / broken track reference on reload → auto-regenerate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Use case — HabCam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IMAGERY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Optical + acoustic ground-truthing of benthic habitat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Browse tens of thousands of stills with metadata, linked to the MBES surface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Sampling unit → backscatter angular response and the images inside it → annotate → report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Reference dataset: HabCam test data on Zenodo (CC-BY-4.0)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HabCam still + metadata panel + map context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Use case — MAREANO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45720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2E86C1"/>
                </a:solidFill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Norwegian seabed-mapping programme — towed-camera video transects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Loads the MAREANO survey .log format directly (DDM → decimal degrees)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Video geo-linked to the map; GPS track drawn as a persistent layer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4303D"/>
                </a:solidFill>
              </a:rPr>
              <a:t>•  Per-frame species / substrate annotation alongside the acoustics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5120640" cy="4572000"/>
          </a:xfrm>
          <a:prstGeom prst="roundRect">
            <a:avLst/>
          </a:prstGeom>
          <a:solidFill>
            <a:srgbClr val="EAF2F8"/>
          </a:solidFill>
          <a:ln w="2222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A5276"/>
                </a:solidFill>
              </a:rPr>
              <a:t>🖼  Screenshot</a:t>
            </a:r>
          </a:p>
          <a:p>
            <a:pPr algn="ctr"/>
            <a:r>
              <a:rPr sz="1100" b="0" i="0">
                <a:solidFill>
                  <a:srgbClr val="1A5276"/>
                </a:solidFill>
              </a:rPr>
              <a:t>MAREANO video transect + track on the canvas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Is this a unique tool?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Yes — the integration is the differentiator.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Most workflows are siloed: acoustics, image annotation, video review, GIS — all separate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GroundTruther puts MBES + imagery + video + annotation + GRASS + reporting on one QGIS map, free &amp; open source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Cloud GRASS backend keeps heavy geoprocessing server-side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Open formats throughout (Parquet · GeoJSON · KMZ · CSV / .log)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Not a replacement for specialist acoustic suites — a connective, ground-truthing layer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What's next?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ML-assisted annotation — pre-populate boxes; review instead of draw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More backscatter analytics &amp; calibration; multi-file mosaics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Scale to very large soundings (10⁷+ rows) — Arrow-native, optional GPU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Richer GRASS recipe presets; 'analysis as a saved session'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Multi-user / shared cloud sessions; signed report bundles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More survey-log adapters out of the box; turnkey installer + CI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Would you use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E6E6E"/>
                </a:solidFill>
              </a:rPr>
              <a:t>Who it's for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4303D"/>
                </a:solidFill>
              </a:rPr>
              <a:t>•  Benthic ecologists &amp; seabed-mapping teams doing ground-truthing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4303D"/>
                </a:solidFill>
              </a:rPr>
              <a:t>•  Anyone who wants acoustics, imagery &amp; video on the same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E6E6E"/>
                </a:solidFill>
              </a:rPr>
              <a:t>Honest take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4303D"/>
                </a:solidFill>
              </a:rPr>
              <a:t>•  Purely acoustic processing → keep your specialist suite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4303D"/>
                </a:solidFill>
              </a:rPr>
              <a:t>•  Interpretation + ground-truth + reporting across data types, in GIS, open &amp; scriptable → strong fit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5276"/>
                </a:solidFill>
              </a:rPr>
              <a:t>Need help setting it up?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Requirements: QGIS 4.0+ (Qt 6), the bundled .venv, a FastGIS API key for GRASS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Install: symlink the repo into your QGIS profile, enable, point Settings at your data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Try it: the Zenodo HabCam dataset (and a MAREANO .log + video)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Repo &amp; issues: github.com/epifanio/groundtruther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Docs: GRASS / FastGIS integration guide in docs/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4303D"/>
                </a:solidFill>
              </a:rPr>
              <a:t>•  Happy to walk you through install, config, or your own dataset.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A5276"/>
                </a:solidFill>
              </a:rPr>
              <a:t>Thank you</a:t>
            </a:r>
          </a:p>
          <a:p>
            <a:pPr algn="ctr">
              <a:spcBef>
                <a:spcPts val="800"/>
              </a:spcBef>
            </a:pPr>
            <a:r>
              <a:rPr sz="2400" b="1" i="0">
                <a:solidFill>
                  <a:srgbClr val="0E6E6E"/>
                </a:solidFill>
              </a:rPr>
              <a:t>GroundTruther · v0.4 · QGIS 4 / Qt 6</a:t>
            </a:r>
          </a:p>
          <a:p>
            <a:pPr algn="ctr"/>
            <a:r>
              <a:rPr sz="1500" b="0" i="0">
                <a:solidFill>
                  <a:srgbClr val="5B6B76"/>
                </a:solidFill>
              </a:rPr>
              <a:t>MBES · imagery · video · GRASS · ground-truth · report</a:t>
            </a:r>
          </a:p>
          <a:p>
            <a:pPr algn="ctr"/>
            <a:r>
              <a:rPr sz="1500" b="0" i="0">
                <a:solidFill>
                  <a:srgbClr val="5B6B76"/>
                </a:solidFill>
              </a:rPr>
              <a:t>github.com/epifanio/groundtruther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